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61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12"/>
    <p:restoredTop sz="84490"/>
  </p:normalViewPr>
  <p:slideViewPr>
    <p:cSldViewPr snapToGrid="0">
      <p:cViewPr>
        <p:scale>
          <a:sx n="104" d="100"/>
          <a:sy n="104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E84B2-C7FA-F64D-A93C-8A78A8AA060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CD7F5-C0ED-D845-8933-D4442048DD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18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First</a:t>
            </a:r>
            <a:r>
              <a:rPr lang="ja-JP" altLang="en"/>
              <a:t>，</a:t>
            </a:r>
            <a:r>
              <a:rPr lang="en" altLang="ja-JP" dirty="0"/>
              <a:t>I'd like to review our previous meeting and the current to-do items </a:t>
            </a:r>
            <a:r>
              <a:rPr lang="ja-JP" altLang="en"/>
              <a:t>．</a:t>
            </a:r>
            <a:r>
              <a:rPr lang="en" altLang="ja-JP" dirty="0"/>
              <a:t>We conducted detection tests using GPT and Gemini on both cherry-picked single frames and 41-frame temporal sequences </a:t>
            </a:r>
            <a:r>
              <a:rPr lang="ja-JP" altLang="en"/>
              <a:t>．</a:t>
            </a:r>
            <a:r>
              <a:rPr lang="en" altLang="ja-JP" dirty="0"/>
              <a:t>The sequence-based approach provides 1.34 seconds of movement data</a:t>
            </a:r>
            <a:r>
              <a:rPr lang="ja-JP" altLang="en"/>
              <a:t>，</a:t>
            </a:r>
            <a:r>
              <a:rPr lang="en" altLang="ja-JP" dirty="0"/>
              <a:t>allowing us to verify if the models can identify glitches that require temporal context</a:t>
            </a:r>
            <a:r>
              <a:rPr lang="ja-JP" altLang="en"/>
              <a:t>，</a:t>
            </a:r>
            <a:r>
              <a:rPr lang="en" altLang="ja-JP" dirty="0"/>
              <a:t>such as speed-based anomalies or state-change defects that are unidentifiable in static images </a:t>
            </a:r>
            <a:r>
              <a:rPr lang="ja-JP" altLang="en"/>
              <a:t>．</a:t>
            </a:r>
            <a:r>
              <a:rPr lang="en" altLang="ja-JP" dirty="0"/>
              <a:t>Additionally</a:t>
            </a:r>
            <a:r>
              <a:rPr lang="ja-JP" altLang="en"/>
              <a:t>，</a:t>
            </a:r>
            <a:r>
              <a:rPr lang="en" altLang="ja-JP" dirty="0"/>
              <a:t>we expanded our annotation data by manually annotating at least 10 world record videos to check for consistency in glitch types and durations across different runs </a:t>
            </a:r>
            <a:r>
              <a:rPr lang="ja-JP" altLang="en"/>
              <a:t>．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807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Regarding the single-frame VLM test</a:t>
            </a:r>
            <a:r>
              <a:rPr lang="ja-JP" altLang="en"/>
              <a:t>，</a:t>
            </a:r>
            <a:r>
              <a:rPr lang="en" altLang="ja-JP" dirty="0"/>
              <a:t>the results showed that correct labels were obtained in only 2 out of 8 cases </a:t>
            </a:r>
            <a:r>
              <a:rPr lang="ja-JP" altLang="en"/>
              <a:t>．</a:t>
            </a:r>
            <a:r>
              <a:rPr lang="en" altLang="ja-JP" dirty="0"/>
              <a:t>From our observations</a:t>
            </a:r>
            <a:r>
              <a:rPr lang="ja-JP" altLang="en"/>
              <a:t>，</a:t>
            </a:r>
            <a:r>
              <a:rPr lang="en" altLang="ja-JP" dirty="0"/>
              <a:t>detection appears feasible when spatial or locational cues are prominent and distinct </a:t>
            </a:r>
            <a:r>
              <a:rPr lang="ja-JP" altLang="en"/>
              <a:t>．</a:t>
            </a:r>
            <a:r>
              <a:rPr lang="en" altLang="ja-JP" dirty="0"/>
              <a:t>However</a:t>
            </a:r>
            <a:r>
              <a:rPr lang="ja-JP" altLang="en"/>
              <a:t>，</a:t>
            </a:r>
            <a:r>
              <a:rPr lang="en" altLang="ja-JP" dirty="0"/>
              <a:t>a significant limitation is that static images fail to capture the temporal context that is essential for identifying speedrun-specific glitches </a:t>
            </a:r>
            <a:r>
              <a:rPr lang="ja-JP" altLang="en"/>
              <a:t>．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412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Moving on to the frame sequence VLM test</a:t>
            </a:r>
            <a:r>
              <a:rPr lang="ja-JP" altLang="en"/>
              <a:t>，</a:t>
            </a:r>
            <a:r>
              <a:rPr lang="en" altLang="ja-JP" dirty="0"/>
              <a:t>while only 3 out of 8 cases were labeled correctly</a:t>
            </a:r>
            <a:r>
              <a:rPr lang="ja-JP" altLang="en"/>
              <a:t>，</a:t>
            </a:r>
            <a:r>
              <a:rPr lang="en" altLang="ja-JP" dirty="0"/>
              <a:t>the reasoning in 6 out of 8 cases accurately captured the actual events</a:t>
            </a:r>
            <a:r>
              <a:rPr lang="ja-JP" altLang="en"/>
              <a:t>．</a:t>
            </a:r>
            <a:r>
              <a:rPr lang="en" altLang="ja-JP" dirty="0"/>
              <a:t>We believe this is because the current glitch list was not entirely appropriate</a:t>
            </a:r>
            <a:r>
              <a:rPr lang="ja-JP" altLang="en"/>
              <a:t>，</a:t>
            </a:r>
            <a:r>
              <a:rPr lang="en" altLang="ja-JP" dirty="0"/>
              <a:t>so I will propose a new approach at the end of this presentation</a:t>
            </a:r>
            <a:r>
              <a:rPr lang="ja-JP" altLang="en"/>
              <a:t>．</a:t>
            </a:r>
            <a:r>
              <a:rPr lang="en" altLang="ja-JP" dirty="0"/>
              <a:t>Our analysis of the failures revealed that the two cases that were not identified involved glitches characterized by extremely high-speed movement</a:t>
            </a:r>
            <a:r>
              <a:rPr lang="ja-JP" altLang="en"/>
              <a:t>．</a:t>
            </a:r>
            <a:r>
              <a:rPr lang="en" altLang="ja-JP" dirty="0"/>
              <a:t>We also performed hypothesis testing by explicitly stating the 1.34-second duration in the prompt to improve detection</a:t>
            </a:r>
            <a:r>
              <a:rPr lang="ja-JP" altLang="en"/>
              <a:t>．</a:t>
            </a:r>
            <a:r>
              <a:rPr lang="en" altLang="ja-JP" dirty="0"/>
              <a:t>Unfortunately</a:t>
            </a:r>
            <a:r>
              <a:rPr lang="ja-JP" altLang="en"/>
              <a:t>，</a:t>
            </a:r>
            <a:r>
              <a:rPr lang="en" altLang="ja-JP" dirty="0"/>
              <a:t>this backfired as the model became biased by the numerical data</a:t>
            </a:r>
            <a:r>
              <a:rPr lang="ja-JP" altLang="en"/>
              <a:t>，</a:t>
            </a:r>
            <a:r>
              <a:rPr lang="en" altLang="ja-JP" dirty="0"/>
              <a:t>leading to a decrease in accuracy</a:t>
            </a:r>
            <a:r>
              <a:rPr lang="ja-JP" altLang="en"/>
              <a:t>．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341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Next</a:t>
            </a:r>
            <a:r>
              <a:rPr lang="ja-JP" altLang="en"/>
              <a:t>，</a:t>
            </a:r>
            <a:r>
              <a:rPr lang="en" altLang="ja-JP" dirty="0"/>
              <a:t>I'll discuss the expansion of the annotation data </a:t>
            </a:r>
            <a:r>
              <a:rPr lang="ja-JP" altLang="en"/>
              <a:t>．</a:t>
            </a:r>
            <a:r>
              <a:rPr lang="en" altLang="ja-JP" dirty="0"/>
              <a:t>Regarding our sampling methodology</a:t>
            </a:r>
            <a:r>
              <a:rPr lang="ja-JP" altLang="en"/>
              <a:t>，</a:t>
            </a:r>
            <a:r>
              <a:rPr lang="en" altLang="ja-JP" dirty="0"/>
              <a:t>I sampled and annotated 10 representative runs that marked major record improvements and were available on YouTube</a:t>
            </a:r>
            <a:r>
              <a:rPr lang="ja-JP" altLang="en"/>
              <a:t>，</a:t>
            </a:r>
            <a:r>
              <a:rPr lang="en" altLang="ja-JP" dirty="0"/>
              <a:t>ensuring balanced historical coverage </a:t>
            </a:r>
            <a:r>
              <a:rPr lang="ja-JP" altLang="en"/>
              <a:t>．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88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7BF40-2B25-AE51-3844-EB4EC653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04FED9A-1E4E-B385-123F-3A72AE384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8FB2EFA-CE09-0FE4-F4A8-328A7D91B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Next</a:t>
            </a:r>
            <a:r>
              <a:rPr lang="ja-JP" altLang="en"/>
              <a:t>，</a:t>
            </a:r>
            <a:r>
              <a:rPr lang="en" altLang="ja-JP" dirty="0"/>
              <a:t>I will summarize our annotation results</a:t>
            </a:r>
            <a:r>
              <a:rPr lang="ja-JP" altLang="en"/>
              <a:t>．</a:t>
            </a:r>
            <a:r>
              <a:rPr lang="en" altLang="ja-JP" dirty="0"/>
              <a:t>Although the raw data is omitted from this slide due to space constraints</a:t>
            </a:r>
            <a:r>
              <a:rPr lang="ja-JP" altLang="en"/>
              <a:t>，</a:t>
            </a:r>
            <a:r>
              <a:rPr lang="en" altLang="ja-JP" dirty="0"/>
              <a:t>our analysis reveals that the types of glitches utilized have remained largely consistent over the years</a:t>
            </a:r>
            <a:r>
              <a:rPr lang="ja-JP" altLang="en"/>
              <a:t>，</a:t>
            </a:r>
            <a:r>
              <a:rPr lang="en" altLang="ja-JP" dirty="0"/>
              <a:t>with only minor shifts such as the adoption of the Pole Glitch and recent BLJ usage</a:t>
            </a:r>
            <a:r>
              <a:rPr lang="ja-JP" altLang="en"/>
              <a:t>．</a:t>
            </a:r>
            <a:r>
              <a:rPr lang="en" altLang="ja-JP" dirty="0"/>
              <a:t>Regarding the duration of these glitches</a:t>
            </a:r>
            <a:r>
              <a:rPr lang="ja-JP" altLang="en"/>
              <a:t>，</a:t>
            </a:r>
            <a:r>
              <a:rPr lang="en" altLang="ja-JP" dirty="0"/>
              <a:t>we identified two primary patterns: those that remain stable and those that are steadily decreasing</a:t>
            </a:r>
            <a:r>
              <a:rPr lang="ja-JP" altLang="en"/>
              <a:t>．</a:t>
            </a:r>
            <a:r>
              <a:rPr lang="en" altLang="ja-JP" dirty="0"/>
              <a:t>We interpret the reductions in frame counts as a direct result of improved player proficiency</a:t>
            </a:r>
            <a:r>
              <a:rPr lang="ja-JP" altLang="en"/>
              <a:t>，</a:t>
            </a:r>
            <a:r>
              <a:rPr lang="en" altLang="ja-JP" dirty="0"/>
              <a:t>whereas occasional increases in duration reflect the extreme execution difficulty of certain tricks that remain unstable even for elite players</a:t>
            </a:r>
            <a:r>
              <a:rPr lang="ja-JP" altLang="en"/>
              <a:t>．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72B1CD-345C-9359-D9EB-85241D1B4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877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73A6-0460-B979-2630-75CC9A4BC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DF955A-D5CC-27A5-3D52-A3F5C9FC9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22E0113-9F24-B9B0-F784-A65635D62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Now</a:t>
            </a:r>
            <a:r>
              <a:rPr lang="ja-JP" altLang="en"/>
              <a:t>，</a:t>
            </a:r>
            <a:r>
              <a:rPr lang="en" altLang="ja-JP" dirty="0"/>
              <a:t>I'd like to discuss whether the current glitch list is appropriate </a:t>
            </a:r>
            <a:r>
              <a:rPr lang="ja-JP" altLang="en"/>
              <a:t>．</a:t>
            </a:r>
            <a:r>
              <a:rPr lang="en" altLang="ja-JP" dirty="0"/>
              <a:t>Some glitches are very similar and potentially confusing </a:t>
            </a:r>
            <a:r>
              <a:rPr lang="ja-JP" altLang="en"/>
              <a:t>．</a:t>
            </a:r>
            <a:r>
              <a:rPr lang="en" altLang="ja-JP" dirty="0"/>
              <a:t>For instance</a:t>
            </a:r>
            <a:r>
              <a:rPr lang="ja-JP" altLang="en"/>
              <a:t>，</a:t>
            </a:r>
            <a:r>
              <a:rPr lang="en" altLang="ja-JP" dirty="0"/>
              <a:t>a BLJ involves high-speed movement utilizing repeated long jumps</a:t>
            </a:r>
            <a:r>
              <a:rPr lang="ja-JP" altLang="en"/>
              <a:t>，</a:t>
            </a:r>
            <a:r>
              <a:rPr lang="en" altLang="ja-JP" dirty="0"/>
              <a:t>whereas an LBLJ is a specific variant of a BLJ performed in the castle lobby </a:t>
            </a:r>
            <a:r>
              <a:rPr lang="ja-JP" altLang="en"/>
              <a:t>．</a:t>
            </a:r>
            <a:r>
              <a:rPr lang="en" altLang="ja-JP" dirty="0"/>
              <a:t>Similarly</a:t>
            </a:r>
            <a:r>
              <a:rPr lang="ja-JP" altLang="en"/>
              <a:t>，</a:t>
            </a:r>
            <a:r>
              <a:rPr lang="en" altLang="ja-JP" dirty="0"/>
              <a:t>Miscellaneous Wall Clipping (MWC) is achieved without using SM64-specific mechanics like a BLJ</a:t>
            </a:r>
            <a:r>
              <a:rPr lang="ja-JP" altLang="en"/>
              <a:t>，</a:t>
            </a:r>
            <a:r>
              <a:rPr lang="en" altLang="ja-JP" dirty="0"/>
              <a:t>while Ledge Clipping is a sub-type of MWC that exploits momentary gaps in collision hitboxes during ledge-grab or pull-up animations </a:t>
            </a:r>
            <a:r>
              <a:rPr lang="ja-JP" altLang="en"/>
              <a:t>．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D8E11E-0A0C-DBC2-64FF-FF8D1A13F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862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0375F-7C4A-B73E-46D6-830EAE89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D7C3024-1F51-4F9E-FB2F-F9D1A4AF6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08E1E5-5F14-ADC1-5B81-7A10DCC98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Our proposal is to implement a hierarchical glitch list</a:t>
            </a:r>
            <a:r>
              <a:rPr lang="ja-JP" altLang="en"/>
              <a:t>．</a:t>
            </a:r>
            <a:r>
              <a:rPr lang="en" altLang="ja-JP" dirty="0"/>
              <a:t>For example</a:t>
            </a:r>
            <a:r>
              <a:rPr lang="ja-JP" altLang="en"/>
              <a:t>，</a:t>
            </a:r>
            <a:r>
              <a:rPr lang="en" altLang="ja-JP" dirty="0"/>
              <a:t>since LBLJ is a type of BLJ</a:t>
            </a:r>
            <a:r>
              <a:rPr lang="ja-JP" altLang="en"/>
              <a:t>，</a:t>
            </a:r>
            <a:r>
              <a:rPr lang="en" altLang="ja-JP" dirty="0"/>
              <a:t>we define them in a parent-child relationship</a:t>
            </a:r>
            <a:r>
              <a:rPr lang="ja-JP" altLang="en"/>
              <a:t>．</a:t>
            </a:r>
            <a:r>
              <a:rPr lang="en" altLang="ja-JP" dirty="0"/>
              <a:t>Under this model</a:t>
            </a:r>
            <a:r>
              <a:rPr lang="ja-JP" altLang="en"/>
              <a:t>，</a:t>
            </a:r>
            <a:r>
              <a:rPr lang="en" altLang="ja-JP" dirty="0"/>
              <a:t>if the model identifies an LBLJ as a general BLJ</a:t>
            </a:r>
            <a:r>
              <a:rPr lang="ja-JP" altLang="en"/>
              <a:t>，</a:t>
            </a:r>
            <a:r>
              <a:rPr lang="en" altLang="ja-JP" dirty="0"/>
              <a:t>we would consider it a successful detection because the core event was accurately captured</a:t>
            </a:r>
            <a:r>
              <a:rPr lang="ja-JP" altLang="en"/>
              <a:t>．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0760AB-CA62-6CDC-42D1-59B0AD0D8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43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A3B32-4DE7-D830-8FF4-66FC6554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D197F5B-D2EA-4DC2-B1AA-7C155880F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2EB41D-52A5-0AC6-489C-0D53FD6C4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We are also considering several alternative approaches </a:t>
            </a:r>
            <a:r>
              <a:rPr lang="ja-JP" altLang="en"/>
              <a:t>．</a:t>
            </a:r>
            <a:r>
              <a:rPr lang="en" altLang="ja-JP" dirty="0"/>
              <a:t>The first is simplification</a:t>
            </a:r>
            <a:r>
              <a:rPr lang="ja-JP" altLang="en"/>
              <a:t>，</a:t>
            </a:r>
            <a:r>
              <a:rPr lang="en" altLang="ja-JP" dirty="0"/>
              <a:t>which involves removing redundant labels to ensure a streamlined and minimal list </a:t>
            </a:r>
            <a:r>
              <a:rPr lang="ja-JP" altLang="en"/>
              <a:t>．</a:t>
            </a:r>
            <a:r>
              <a:rPr lang="en" altLang="ja-JP" dirty="0"/>
              <a:t>Another is generalized classification</a:t>
            </a:r>
            <a:r>
              <a:rPr lang="ja-JP" altLang="en"/>
              <a:t>，</a:t>
            </a:r>
            <a:r>
              <a:rPr lang="en" altLang="ja-JP" dirty="0"/>
              <a:t>where we adopt high-level categories like Out of Bounds (</a:t>
            </a:r>
            <a:r>
              <a:rPr lang="en" altLang="ja-JP" dirty="0" err="1"/>
              <a:t>OoB</a:t>
            </a:r>
            <a:r>
              <a:rPr lang="en" altLang="ja-JP" dirty="0"/>
              <a:t>) and Speed Glitch (SG) to maintain consistency with our previous research </a:t>
            </a:r>
            <a:r>
              <a:rPr lang="ja-JP" altLang="en"/>
              <a:t>．</a:t>
            </a:r>
            <a:r>
              <a:rPr lang="en" altLang="ja-JP" dirty="0"/>
              <a:t>Finally</a:t>
            </a:r>
            <a:r>
              <a:rPr lang="ja-JP" altLang="en"/>
              <a:t>，</a:t>
            </a:r>
            <a:r>
              <a:rPr lang="en" altLang="ja-JP" dirty="0"/>
              <a:t>we could align our taxonomy with prior work to maintain consistency with established research </a:t>
            </a:r>
            <a:r>
              <a:rPr lang="ja-JP" altLang="en"/>
              <a:t>．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725F22-7408-53DF-AE5C-F6E10219D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3918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159C5-2B5C-62AA-12BB-8E5DC960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5A36939-4854-747B-9B72-1A0B18A3B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E11B51E-B8E2-9137-2237-BD920E7E7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This leads to our key question </a:t>
            </a:r>
            <a:r>
              <a:rPr lang="ja-JP" altLang="en"/>
              <a:t>．</a:t>
            </a:r>
            <a:r>
              <a:rPr lang="en" altLang="ja-JP" dirty="0"/>
              <a:t>Given our goal of supporting the speedrun community</a:t>
            </a:r>
            <a:r>
              <a:rPr lang="ja-JP" altLang="en"/>
              <a:t>，</a:t>
            </a:r>
            <a:r>
              <a:rPr lang="en" altLang="ja-JP" dirty="0"/>
              <a:t>which of these approaches do you think is the most appropriate </a:t>
            </a:r>
            <a:r>
              <a:rPr lang="ja-JP" altLang="en"/>
              <a:t>？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A28966-B98A-9C88-8EEB-E24FE7433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56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160BE-DC95-B6F6-731E-994F9476B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rIns="720000" anchor="ctr" anchorCtr="0">
            <a:noAutofit/>
          </a:bodyPr>
          <a:lstStyle>
            <a:lvl1pPr algn="l">
              <a:defRPr sz="5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31AB90-5F2E-DC72-BE98-A4BD40518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2386800"/>
          </a:xfrm>
        </p:spPr>
        <p:txBody>
          <a:bodyPr lIns="720000" anchor="ctr" anchorCtr="0"/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8495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88B94-F420-0AEE-C1B4-C46023B3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92BB6F-071E-5F52-9A73-E1FFF95BB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D5A362-49EF-EA98-879E-DED32A1FB1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506698-8264-ACC8-A887-D495AF216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1CCB51-2FFF-CF11-6F71-504273CB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015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43D71-0FC5-C6CB-E505-0B25DCE4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99E306-9401-400F-1706-1CFFDBE13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3FD7EB-922B-53E1-E76A-65643586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26476D-9ECD-4526-0702-7147363D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99B534-0CA7-15E0-55CC-5CDAD2A4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31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D328F-556F-47A6-D057-2412F4A0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B01DA5-1144-AD25-947F-72B5E71EB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896061-28BA-CA19-2915-CBE25F988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44F6F1-31E4-543B-5216-C97ED0EECD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83A9CD-BF69-BFBC-B9F4-CDC2817C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CB07BE-1EDB-34E3-465C-8D58E713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05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D66F85-B020-FC88-26AD-B0B6E525C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E28E60-F492-8CD9-317C-4A9BEC60E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A8B702-68CF-F419-8231-C18F9389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BC49842-EF30-0E76-F9AE-D7EDD073E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8ED0D73-9BD8-1DB0-4987-1A876D6E8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B02C85F-A2BB-049E-C4A1-ADD84490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F97CBA7-5C65-F742-2F19-32CF191D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29E62F-5A44-F2C5-7BFA-6CAB75FF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87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C9F59C-63BF-26FB-7E31-4BA77418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80F260-D6FE-1B99-124C-5A186097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C7523E9-F2CE-02A2-D985-F59A12F4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09582D-4161-6DA8-D989-FCD2470E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14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8167870-1870-356C-F5AA-014D74AA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E141A56-5A34-70A9-281C-14C1796B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5EB337-C634-800C-2EC0-92E30C4F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30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2B9812-A236-789B-6C3E-7432A900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39DDBA-075C-A6A8-E0BE-6E5DC3C3A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9F07CE-F8E5-BE5D-0BE1-12BF3B14F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78546B-1A25-D844-D380-E4ACEDBE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D4E8DA-1426-3EE8-263F-5F186CBA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0552B7-3E0C-81F5-5D26-7D5CE5120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790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234F9-D436-594E-A77C-67CF5CC8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E5EC064-58C4-718E-E3A4-9D190949F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AC035E-332C-ACA2-925C-762C2E929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BF80A8-A1CE-873D-CBB9-F3862350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9C35D3-CE53-8436-C7AF-ED4882FB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7E7BB6-ED2E-9029-0470-D17B164F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29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8F24B-D2C1-168B-2ADA-0E0C47DD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6B44C5-9095-7319-98C8-E65B91CAA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7D1A0B-E42C-96E8-EF5B-F2CCCF577F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1DFD45-FA58-CC72-A1EE-D1EFA8D3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79EA5B-B4F3-7302-BB46-10150AA0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522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7748BCB-108B-C6AA-709E-010C0BE52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143EB4-B772-BF89-44A3-6CBF3FC96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5E7CE4-8C14-40DB-A249-729C7E1E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982FDA-B4E8-DE09-EEA0-326226C7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8E5E24-3DFA-80CA-0CA4-D5A51D4E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274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79EA8F5-6D3B-4965-13F6-614BA8771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vert="horz" lIns="72000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C3AE09-66B7-59AA-3E88-9CFC6667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1B38F-830F-F23D-9DB9-2B21AEBDA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tx1">
                    <a:tint val="82000"/>
                  </a:schemeClr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fld id="{5BC92305-B013-E149-9F60-03E7F142D13C}" type="slidenum">
              <a:rPr lang="ja-JP" altLang="en-US" smtClean="0"/>
              <a:pPr/>
              <a:t>‹#›</a:t>
            </a:fld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49702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i="0" kern="1200">
          <a:solidFill>
            <a:schemeClr val="bg1"/>
          </a:solidFill>
          <a:latin typeface="Hiragino Kaku Gothic Pro W6" panose="020B0300000000000000" pitchFamily="34" charset="-128"/>
          <a:ea typeface="Hiragino Kaku Gothic Pro W6" panose="020B03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C8DCF5-4F3A-3B06-C21A-FDD7EF56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Review of Previous Meeting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D97229-048A-71AD-D496-252ECDBFF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6535"/>
            <a:ext cx="10515600" cy="4838377"/>
          </a:xfrm>
        </p:spPr>
        <p:txBody>
          <a:bodyPr/>
          <a:lstStyle/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To-Do Items</a:t>
            </a:r>
          </a:p>
          <a:p>
            <a:pPr lvl="1"/>
            <a:r>
              <a:rPr lang="en" altLang="ja-JP" b="1" dirty="0"/>
              <a:t>Single-frame &amp; Sequence VLM Test: </a:t>
            </a:r>
            <a:r>
              <a:rPr lang="en" altLang="ja-JP" dirty="0"/>
              <a:t>Conduct detection tests using GPT/Gemini on both cherry-picked single frames and 41-frame temporal sequences</a:t>
            </a:r>
            <a:r>
              <a:rPr lang="ja-JP" altLang="en"/>
              <a:t>．</a:t>
            </a:r>
            <a:r>
              <a:rPr lang="en" altLang="ja-JP" dirty="0"/>
              <a:t>The sequence-based approach provides 1.34 seconds of movement data to verify if the models can identify glitches that require temporal context</a:t>
            </a:r>
            <a:r>
              <a:rPr lang="ja-JP" altLang="en"/>
              <a:t>，</a:t>
            </a:r>
            <a:r>
              <a:rPr lang="en" altLang="ja-JP" dirty="0"/>
              <a:t>such as speed-based anomalies or state-change defects that are unidentifiable in static images</a:t>
            </a:r>
            <a:r>
              <a:rPr lang="ja-JP" altLang="en"/>
              <a:t>．</a:t>
            </a:r>
            <a:endParaRPr lang="en-US" altLang="ja-JP" dirty="0"/>
          </a:p>
          <a:p>
            <a:pPr lvl="1"/>
            <a:r>
              <a:rPr lang="en" altLang="ja-JP" b="1" dirty="0"/>
              <a:t>Expand Annotation Data:</a:t>
            </a:r>
            <a:r>
              <a:rPr lang="en" altLang="ja-JP" dirty="0"/>
              <a:t> Manually annotate at least 10 more WR videos to check if the glitch types and their durations are consistent across different runs.</a:t>
            </a:r>
            <a:endParaRPr lang="en" altLang="ja-JP" b="1" dirty="0">
              <a:latin typeface="Hiragino Kaku Gothic Pro W6" panose="020B0300000000000000" pitchFamily="34" charset="-128"/>
              <a:ea typeface="Hiragino Kaku Gothic Pro W6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7811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FD2ED9-4DD9-19E7-C6B3-9CB24429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Single-frame VLM Test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B41AD2-AB9A-622C-0816-4B420E896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204876"/>
            <a:ext cx="11353800" cy="3865297"/>
          </a:xfrm>
        </p:spPr>
        <p:txBody>
          <a:bodyPr/>
          <a:lstStyle/>
          <a:p>
            <a:r>
              <a:rPr lang="en" altLang="ja-JP" sz="3200" b="1" dirty="0"/>
              <a:t>Results: Correct labels obtained in only 2 out of 8 cases</a:t>
            </a:r>
            <a:r>
              <a:rPr lang="ja-JP" altLang="en" sz="3200" b="1"/>
              <a:t>．</a:t>
            </a:r>
            <a:endParaRPr lang="en" altLang="ja-JP" sz="3200" dirty="0"/>
          </a:p>
          <a:p>
            <a:r>
              <a:rPr lang="en" altLang="ja-JP" sz="3200" b="1" dirty="0"/>
              <a:t>Observations:</a:t>
            </a:r>
            <a:r>
              <a:rPr lang="en" altLang="ja-JP" sz="3200" dirty="0"/>
              <a:t> Detection appears feasible when spatial or locational cues are prominent and distinct</a:t>
            </a:r>
            <a:r>
              <a:rPr lang="ja-JP" altLang="en" sz="3200"/>
              <a:t>．</a:t>
            </a:r>
          </a:p>
          <a:p>
            <a:r>
              <a:rPr lang="en" altLang="ja-JP" sz="3200" b="1" dirty="0"/>
              <a:t>Limitation:</a:t>
            </a:r>
            <a:r>
              <a:rPr lang="en" altLang="ja-JP" sz="3200" dirty="0"/>
              <a:t> Static images fail to capture the temporal context essential for identifying speedrun-specific glitches</a:t>
            </a:r>
            <a:r>
              <a:rPr lang="ja-JP" altLang="en" sz="3200"/>
              <a:t>．</a:t>
            </a:r>
          </a:p>
        </p:txBody>
      </p:sp>
    </p:spTree>
    <p:extLst>
      <p:ext uri="{BB962C8B-B14F-4D97-AF65-F5344CB8AC3E}">
        <p14:creationId xmlns:p14="http://schemas.microsoft.com/office/powerpoint/2010/main" val="415393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423044-EC8E-09FD-DF5B-9B227E0A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Frame Sequence VLM Test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8E94B6-7A28-A9CB-FF49-A9ADD1EA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742552"/>
            <a:ext cx="11480800" cy="4693510"/>
          </a:xfrm>
        </p:spPr>
        <p:txBody>
          <a:bodyPr/>
          <a:lstStyle/>
          <a:p>
            <a:r>
              <a:rPr kumimoji="1" lang="en" altLang="ja-JP" sz="3200" b="1" dirty="0"/>
              <a:t>Results</a:t>
            </a:r>
            <a:r>
              <a:rPr kumimoji="1" lang="en" altLang="ja-JP" sz="3200" dirty="0"/>
              <a:t>: While only 3 out of 8 were labeled correctly</a:t>
            </a:r>
            <a:r>
              <a:rPr kumimoji="1" lang="ja-JP" altLang="en" sz="3200"/>
              <a:t>，</a:t>
            </a:r>
            <a:r>
              <a:rPr kumimoji="1" lang="en" altLang="ja-JP" sz="3200" dirty="0"/>
              <a:t>the reasoning for 6 out of 8 cases accurately captured the actual events</a:t>
            </a:r>
            <a:r>
              <a:rPr kumimoji="1" lang="ja-JP" altLang="en" sz="3200"/>
              <a:t>．</a:t>
            </a:r>
          </a:p>
          <a:p>
            <a:r>
              <a:rPr kumimoji="1" lang="en" altLang="ja-JP" sz="3200" b="1" dirty="0"/>
              <a:t>Analysis of Failures</a:t>
            </a:r>
            <a:r>
              <a:rPr kumimoji="1" lang="en" altLang="ja-JP" sz="3200" dirty="0"/>
              <a:t>: The two cases that failed to be identified involved glitches characterized by extremely high-speed movement</a:t>
            </a:r>
            <a:r>
              <a:rPr kumimoji="1" lang="ja-JP" altLang="en" sz="3200"/>
              <a:t>．</a:t>
            </a:r>
          </a:p>
          <a:p>
            <a:r>
              <a:rPr kumimoji="1" lang="en" altLang="ja-JP" sz="3200" b="1" dirty="0"/>
              <a:t>Hypothesis Testing</a:t>
            </a:r>
            <a:r>
              <a:rPr kumimoji="1" lang="en" altLang="ja-JP" sz="3200" dirty="0"/>
              <a:t>: I explicitly stated the 1.34-second duration in the prompt to improve detection</a:t>
            </a:r>
            <a:r>
              <a:rPr kumimoji="1" lang="ja-JP" altLang="en" sz="3200"/>
              <a:t>；</a:t>
            </a:r>
            <a:r>
              <a:rPr kumimoji="1" lang="en" altLang="ja-JP" sz="3200" dirty="0"/>
              <a:t>however</a:t>
            </a:r>
            <a:r>
              <a:rPr kumimoji="1" lang="ja-JP" altLang="en" sz="3200"/>
              <a:t>，</a:t>
            </a:r>
            <a:r>
              <a:rPr kumimoji="1" lang="en" altLang="ja-JP" sz="3200" dirty="0"/>
              <a:t>this backfired as the model became biased by the numerical data</a:t>
            </a:r>
            <a:r>
              <a:rPr kumimoji="1" lang="ja-JP" altLang="en" sz="3200"/>
              <a:t>，</a:t>
            </a:r>
            <a:r>
              <a:rPr kumimoji="1" lang="en" altLang="ja-JP" sz="3200" dirty="0"/>
              <a:t>leading to a decrease in accuracy</a:t>
            </a:r>
            <a:r>
              <a:rPr kumimoji="1" lang="ja-JP" altLang="en" sz="3200"/>
              <a:t>．</a:t>
            </a:r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2873961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BC25-D166-1BA5-0A61-079E7B971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F38AB5-73F6-5D99-FE5A-FD5101347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Expand Annotation Data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AA4EF7-AD9F-B069-CC70-AA6C5C71B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97" y="5710237"/>
            <a:ext cx="11288806" cy="1046163"/>
          </a:xfrm>
        </p:spPr>
        <p:txBody>
          <a:bodyPr/>
          <a:lstStyle/>
          <a:p>
            <a:r>
              <a:rPr lang="en" altLang="ja-JP" sz="2400" b="1" dirty="0"/>
              <a:t>Sampling Methodology</a:t>
            </a:r>
            <a:r>
              <a:rPr lang="en" altLang="ja-JP" sz="2400" dirty="0"/>
              <a:t>: I sampled and annotated 10 representative runs that marked major record improvements and were available on YouTube</a:t>
            </a:r>
            <a:r>
              <a:rPr lang="ja-JP" altLang="en" sz="2400"/>
              <a:t>，</a:t>
            </a:r>
            <a:r>
              <a:rPr lang="en" altLang="ja-JP" sz="2400" dirty="0"/>
              <a:t>ensuring a balanced historical coverage</a:t>
            </a:r>
            <a:r>
              <a:rPr lang="ja-JP" altLang="en" sz="2400"/>
              <a:t>．</a:t>
            </a:r>
            <a:endParaRPr kumimoji="1" lang="en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2532D17-CC64-1059-6EC0-7CB445C1D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503" y="1420227"/>
            <a:ext cx="5512994" cy="4195345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C47AED8-D646-63EF-D22B-142076B2BA0D}"/>
              </a:ext>
            </a:extLst>
          </p:cNvPr>
          <p:cNvCxnSpPr/>
          <p:nvPr/>
        </p:nvCxnSpPr>
        <p:spPr>
          <a:xfrm flipH="1">
            <a:off x="4274974" y="3321050"/>
            <a:ext cx="355600" cy="215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0E09F8E-184F-ECE3-F060-2330900B102E}"/>
              </a:ext>
            </a:extLst>
          </p:cNvPr>
          <p:cNvCxnSpPr/>
          <p:nvPr/>
        </p:nvCxnSpPr>
        <p:spPr>
          <a:xfrm flipH="1">
            <a:off x="8748002" y="4538578"/>
            <a:ext cx="355600" cy="215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FC8E363-575B-9E57-337E-80D568BC8A76}"/>
              </a:ext>
            </a:extLst>
          </p:cNvPr>
          <p:cNvCxnSpPr/>
          <p:nvPr/>
        </p:nvCxnSpPr>
        <p:spPr>
          <a:xfrm flipH="1">
            <a:off x="4274974" y="3746011"/>
            <a:ext cx="355600" cy="215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443BC787-E793-A466-D9D7-3D78E09369B9}"/>
              </a:ext>
            </a:extLst>
          </p:cNvPr>
          <p:cNvCxnSpPr>
            <a:cxnSpLocks/>
          </p:cNvCxnSpPr>
          <p:nvPr/>
        </p:nvCxnSpPr>
        <p:spPr>
          <a:xfrm flipH="1">
            <a:off x="4970875" y="3961911"/>
            <a:ext cx="97236" cy="376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7E6DCA85-537E-BF34-6E33-B71FFADB33AA}"/>
              </a:ext>
            </a:extLst>
          </p:cNvPr>
          <p:cNvCxnSpPr>
            <a:cxnSpLocks/>
          </p:cNvCxnSpPr>
          <p:nvPr/>
        </p:nvCxnSpPr>
        <p:spPr>
          <a:xfrm flipH="1">
            <a:off x="5411495" y="4149999"/>
            <a:ext cx="211092" cy="2960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560EBED-FFDE-5B80-D849-24B81FCE13A1}"/>
              </a:ext>
            </a:extLst>
          </p:cNvPr>
          <p:cNvCxnSpPr>
            <a:cxnSpLocks/>
          </p:cNvCxnSpPr>
          <p:nvPr/>
        </p:nvCxnSpPr>
        <p:spPr>
          <a:xfrm flipH="1">
            <a:off x="6343883" y="4149999"/>
            <a:ext cx="86100" cy="3453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85EEA28F-49B2-04C2-5311-E85EF9B308D5}"/>
              </a:ext>
            </a:extLst>
          </p:cNvPr>
          <p:cNvCxnSpPr>
            <a:cxnSpLocks/>
          </p:cNvCxnSpPr>
          <p:nvPr/>
        </p:nvCxnSpPr>
        <p:spPr>
          <a:xfrm flipH="1">
            <a:off x="6747796" y="4149999"/>
            <a:ext cx="158842" cy="388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CE431D1-01BE-DE7D-2BB0-7A61174A0634}"/>
              </a:ext>
            </a:extLst>
          </p:cNvPr>
          <p:cNvCxnSpPr>
            <a:cxnSpLocks/>
          </p:cNvCxnSpPr>
          <p:nvPr/>
        </p:nvCxnSpPr>
        <p:spPr>
          <a:xfrm flipH="1">
            <a:off x="7869717" y="4322678"/>
            <a:ext cx="97236" cy="3109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3CB7BF33-8E92-FB0D-2519-BB31AB29B39E}"/>
              </a:ext>
            </a:extLst>
          </p:cNvPr>
          <p:cNvCxnSpPr>
            <a:cxnSpLocks/>
          </p:cNvCxnSpPr>
          <p:nvPr/>
        </p:nvCxnSpPr>
        <p:spPr>
          <a:xfrm flipH="1">
            <a:off x="7876325" y="4538578"/>
            <a:ext cx="255998" cy="172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A29C887E-62F4-965B-C421-5181CB87D067}"/>
              </a:ext>
            </a:extLst>
          </p:cNvPr>
          <p:cNvCxnSpPr>
            <a:cxnSpLocks/>
          </p:cNvCxnSpPr>
          <p:nvPr/>
        </p:nvCxnSpPr>
        <p:spPr>
          <a:xfrm flipH="1">
            <a:off x="8054125" y="4538578"/>
            <a:ext cx="296162" cy="203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51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BF35-5749-5099-1A10-5DE8EB03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334E50-21BF-1831-7AF3-55033131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Annotation Results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332BBD-49C3-11A7-DF74-D1C751C4F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97" y="1515203"/>
            <a:ext cx="11288806" cy="5148644"/>
          </a:xfrm>
        </p:spPr>
        <p:txBody>
          <a:bodyPr/>
          <a:lstStyle/>
          <a:p>
            <a:r>
              <a:rPr lang="en" altLang="ja-JP" sz="3200" dirty="0"/>
              <a:t>Consistency in Glitch Types: The types of glitches utilized have remained largely consistent over time (with minor shifts such as the adoption of the Pole Glitch and recent BLJ usage)</a:t>
            </a:r>
            <a:r>
              <a:rPr lang="ja-JP" altLang="en" sz="3200"/>
              <a:t>．</a:t>
            </a:r>
          </a:p>
          <a:p>
            <a:r>
              <a:rPr lang="en" altLang="ja-JP" sz="3200" dirty="0"/>
              <a:t>Duration Patterns: Two primary patterns were observed regarding glitch durations: those that remain stable and those that are steadily decreasing</a:t>
            </a:r>
            <a:r>
              <a:rPr lang="ja-JP" altLang="en" sz="3200"/>
              <a:t>．</a:t>
            </a:r>
          </a:p>
          <a:p>
            <a:r>
              <a:rPr lang="en" altLang="ja-JP" sz="3200" dirty="0"/>
              <a:t>Interpretations: Reductions in frame counts are attributed to improved player proficiency</a:t>
            </a:r>
            <a:r>
              <a:rPr lang="ja-JP" altLang="en" sz="3200"/>
              <a:t>，</a:t>
            </a:r>
            <a:r>
              <a:rPr lang="en" altLang="ja-JP" sz="3200" dirty="0"/>
              <a:t>while occasional increases reflect the extreme execution difficulty that remains unstable even for elite players</a:t>
            </a:r>
            <a:r>
              <a:rPr lang="ja-JP" altLang="en" sz="3200"/>
              <a:t>．</a:t>
            </a:r>
            <a:endParaRPr kumimoji="1" lang="en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93588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B1F6-9851-F468-268D-E07635049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3616AD-D6F0-834A-D474-1A83389F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Is the current glitch list appropriate?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77AD15-B888-0EBC-76E9-E737E3FD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57" y="1996312"/>
            <a:ext cx="11523285" cy="4252088"/>
          </a:xfrm>
        </p:spPr>
        <p:txBody>
          <a:bodyPr/>
          <a:lstStyle/>
          <a:p>
            <a:pPr marL="0" indent="0">
              <a:buNone/>
            </a:pPr>
            <a:r>
              <a:rPr kumimoji="1" lang="en" altLang="ja-JP" sz="3200" dirty="0"/>
              <a:t>Some glitches are very similar and potentially confusing:</a:t>
            </a:r>
          </a:p>
          <a:p>
            <a:r>
              <a:rPr kumimoji="1" lang="en" altLang="ja-JP" sz="2800" dirty="0"/>
              <a:t>BLJ: High-speed movement utilizing repeated long jumps</a:t>
            </a:r>
            <a:r>
              <a:rPr kumimoji="1" lang="ja-JP" altLang="en" sz="2800"/>
              <a:t>．</a:t>
            </a:r>
          </a:p>
          <a:p>
            <a:r>
              <a:rPr kumimoji="1" lang="en" altLang="ja-JP" sz="2800" dirty="0"/>
              <a:t>LBLJ: A specific variant of BLJ performed in the castle lobby</a:t>
            </a:r>
            <a:r>
              <a:rPr kumimoji="1" lang="ja-JP" altLang="en" sz="2800"/>
              <a:t>．</a:t>
            </a:r>
          </a:p>
          <a:p>
            <a:endParaRPr kumimoji="1" lang="ja-JP" altLang="en" sz="2800"/>
          </a:p>
          <a:p>
            <a:r>
              <a:rPr kumimoji="1" lang="en" altLang="ja-JP" sz="2800" dirty="0"/>
              <a:t>Miscellaneous Wall Clipping (MWC): Wall clipping achieved without using SM64-specific mechanics like BLJ</a:t>
            </a:r>
            <a:r>
              <a:rPr kumimoji="1" lang="ja-JP" altLang="en" sz="2800"/>
              <a:t>．</a:t>
            </a:r>
          </a:p>
          <a:p>
            <a:r>
              <a:rPr kumimoji="1" lang="en" altLang="ja-JP" sz="2800" dirty="0"/>
              <a:t>Ledge Clipping: A sub-type of MWC that exploits momentary gaps in collision hitboxes during ledge-grab or pull-up animations</a:t>
            </a:r>
            <a:r>
              <a:rPr kumimoji="1" lang="ja-JP" altLang="en" sz="2800"/>
              <a:t>．</a:t>
            </a:r>
            <a:endParaRPr kumimoji="1" lang="en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339096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50D20-F3F1-CACC-FA5F-0CBE0C1C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A906F0-F0C6-B639-ED03-C7B1460A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Our Proposal: Hierarchical Glitch List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52DDC0-FCB9-9CFA-66B1-10D6A47CD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852" y="5174514"/>
            <a:ext cx="11577895" cy="1325564"/>
          </a:xfrm>
        </p:spPr>
        <p:txBody>
          <a:bodyPr/>
          <a:lstStyle/>
          <a:p>
            <a:r>
              <a:rPr kumimoji="1" lang="en" altLang="ja-JP" sz="3200" dirty="0"/>
              <a:t>If the model identifies an LBLJ as a general BLJ, we would consider it a successful detection (OK) because the core event was accurately captured</a:t>
            </a:r>
            <a:r>
              <a:rPr kumimoji="1" lang="ja-JP" altLang="en" sz="3200"/>
              <a:t>．</a:t>
            </a:r>
            <a:endParaRPr kumimoji="1" lang="en" altLang="ja-JP" sz="28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9ED7E41-D2BB-1932-3C31-0F7C48552EDC}"/>
              </a:ext>
            </a:extLst>
          </p:cNvPr>
          <p:cNvSpPr/>
          <p:nvPr/>
        </p:nvSpPr>
        <p:spPr>
          <a:xfrm>
            <a:off x="4807906" y="1628384"/>
            <a:ext cx="2576186" cy="588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/>
              <a:t>Glitch</a:t>
            </a:r>
            <a:endParaRPr kumimoji="1" lang="ja-JP" altLang="en-US" sz="3200" b="1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CA07427-E4E6-0C1F-D33D-993A22C89D00}"/>
              </a:ext>
            </a:extLst>
          </p:cNvPr>
          <p:cNvSpPr/>
          <p:nvPr/>
        </p:nvSpPr>
        <p:spPr>
          <a:xfrm>
            <a:off x="401814" y="3395260"/>
            <a:ext cx="2576186" cy="588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/>
              <a:t>LBLJ</a:t>
            </a:r>
            <a:endParaRPr kumimoji="1" lang="ja-JP" altLang="en-US" sz="32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5359AC6-C16F-71A6-2279-ABC671E4908A}"/>
              </a:ext>
            </a:extLst>
          </p:cNvPr>
          <p:cNvSpPr/>
          <p:nvPr/>
        </p:nvSpPr>
        <p:spPr>
          <a:xfrm>
            <a:off x="401814" y="2577030"/>
            <a:ext cx="2576186" cy="588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/>
              <a:t>BLJ</a:t>
            </a:r>
            <a:endParaRPr kumimoji="1" lang="ja-JP" altLang="en-US" sz="3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1B96C68-87CD-42A4-9B79-4CFD8DCBAEE4}"/>
              </a:ext>
            </a:extLst>
          </p:cNvPr>
          <p:cNvSpPr/>
          <p:nvPr/>
        </p:nvSpPr>
        <p:spPr>
          <a:xfrm>
            <a:off x="3748186" y="3395260"/>
            <a:ext cx="2576186" cy="588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/>
              <a:t>S</a:t>
            </a:r>
            <a:r>
              <a:rPr kumimoji="1" lang="en-US" altLang="ja-JP" sz="3200" dirty="0"/>
              <a:t>BLJ</a:t>
            </a:r>
            <a:endParaRPr kumimoji="1" lang="ja-JP" altLang="en-US" sz="32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54BBFF9-E4A8-34AD-F1BC-7882D597233D}"/>
              </a:ext>
            </a:extLst>
          </p:cNvPr>
          <p:cNvSpPr/>
          <p:nvPr/>
        </p:nvSpPr>
        <p:spPr>
          <a:xfrm>
            <a:off x="3748186" y="4212460"/>
            <a:ext cx="2576186" cy="588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/>
              <a:t>DDD Skip</a:t>
            </a:r>
            <a:endParaRPr kumimoji="1" lang="ja-JP" altLang="en-US" sz="320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16A0371-9DDC-7E7F-64D7-EE4FEFDE23E9}"/>
              </a:ext>
            </a:extLst>
          </p:cNvPr>
          <p:cNvCxnSpPr>
            <a:cxnSpLocks/>
          </p:cNvCxnSpPr>
          <p:nvPr/>
        </p:nvCxnSpPr>
        <p:spPr>
          <a:xfrm>
            <a:off x="6094800" y="2217107"/>
            <a:ext cx="0" cy="11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571B4D5-7436-638F-C7AB-90CCF36DB3E1}"/>
              </a:ext>
            </a:extLst>
          </p:cNvPr>
          <p:cNvCxnSpPr>
            <a:cxnSpLocks/>
          </p:cNvCxnSpPr>
          <p:nvPr/>
        </p:nvCxnSpPr>
        <p:spPr>
          <a:xfrm>
            <a:off x="1680051" y="3165753"/>
            <a:ext cx="0" cy="11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1B1A502-55DF-0120-FA8F-D55D77D2C409}"/>
              </a:ext>
            </a:extLst>
          </p:cNvPr>
          <p:cNvCxnSpPr>
            <a:cxnSpLocks/>
          </p:cNvCxnSpPr>
          <p:nvPr/>
        </p:nvCxnSpPr>
        <p:spPr>
          <a:xfrm>
            <a:off x="1687590" y="3279805"/>
            <a:ext cx="0" cy="11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1AF20836-68BA-E2BA-F8D7-4731BFC2A616}"/>
              </a:ext>
            </a:extLst>
          </p:cNvPr>
          <p:cNvCxnSpPr>
            <a:cxnSpLocks/>
          </p:cNvCxnSpPr>
          <p:nvPr/>
        </p:nvCxnSpPr>
        <p:spPr>
          <a:xfrm>
            <a:off x="5031990" y="3279805"/>
            <a:ext cx="0" cy="11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0589CED-231B-829B-114D-843B8501A288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031990" y="3983983"/>
            <a:ext cx="3600" cy="2284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D42F501-5EEB-533A-DF29-8DFB2F03DB58}"/>
              </a:ext>
            </a:extLst>
          </p:cNvPr>
          <p:cNvCxnSpPr>
            <a:cxnSpLocks/>
          </p:cNvCxnSpPr>
          <p:nvPr/>
        </p:nvCxnSpPr>
        <p:spPr>
          <a:xfrm>
            <a:off x="1677170" y="2328707"/>
            <a:ext cx="87155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43E526C5-2FB4-D8D4-1951-39BEF5926F6A}"/>
              </a:ext>
            </a:extLst>
          </p:cNvPr>
          <p:cNvCxnSpPr>
            <a:cxnSpLocks/>
          </p:cNvCxnSpPr>
          <p:nvPr/>
        </p:nvCxnSpPr>
        <p:spPr>
          <a:xfrm>
            <a:off x="1680051" y="3277353"/>
            <a:ext cx="4848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93B50E0-4D73-EA2D-5BFA-10D91714ABC3}"/>
              </a:ext>
            </a:extLst>
          </p:cNvPr>
          <p:cNvSpPr txBox="1"/>
          <p:nvPr/>
        </p:nvSpPr>
        <p:spPr>
          <a:xfrm rot="16200000">
            <a:off x="10221038" y="2092119"/>
            <a:ext cx="461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〜</a:t>
            </a:r>
            <a:endParaRPr kumimoji="1" lang="ja-JP" altLang="en-US" sz="320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423B9E2-B039-D31D-6D9D-983051631B58}"/>
              </a:ext>
            </a:extLst>
          </p:cNvPr>
          <p:cNvSpPr txBox="1"/>
          <p:nvPr/>
        </p:nvSpPr>
        <p:spPr>
          <a:xfrm rot="16200000">
            <a:off x="6324181" y="3043217"/>
            <a:ext cx="461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〜</a:t>
            </a:r>
            <a:endParaRPr kumimoji="1" lang="ja-JP" altLang="en-US" sz="3200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2B8CC19-59DF-04EC-6124-DA187C0E44EF}"/>
              </a:ext>
            </a:extLst>
          </p:cNvPr>
          <p:cNvCxnSpPr>
            <a:cxnSpLocks/>
          </p:cNvCxnSpPr>
          <p:nvPr/>
        </p:nvCxnSpPr>
        <p:spPr>
          <a:xfrm flipH="1">
            <a:off x="1677734" y="2343686"/>
            <a:ext cx="2317" cy="22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33EE814C-EA39-C520-0A55-7CBAED752E13}"/>
              </a:ext>
            </a:extLst>
          </p:cNvPr>
          <p:cNvCxnSpPr>
            <a:cxnSpLocks/>
          </p:cNvCxnSpPr>
          <p:nvPr/>
        </p:nvCxnSpPr>
        <p:spPr>
          <a:xfrm>
            <a:off x="8890801" y="2328707"/>
            <a:ext cx="0" cy="22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CEB0A27D-34A1-927B-743F-F897E1BEA1F7}"/>
              </a:ext>
            </a:extLst>
          </p:cNvPr>
          <p:cNvSpPr/>
          <p:nvPr/>
        </p:nvSpPr>
        <p:spPr>
          <a:xfrm>
            <a:off x="7599600" y="2577030"/>
            <a:ext cx="2576186" cy="588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Miscellaneous Wall Clipping</a:t>
            </a:r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CD5000E-6E54-FB75-37F3-DEC38C23262C}"/>
              </a:ext>
            </a:extLst>
          </p:cNvPr>
          <p:cNvSpPr/>
          <p:nvPr/>
        </p:nvSpPr>
        <p:spPr>
          <a:xfrm>
            <a:off x="7599600" y="3392385"/>
            <a:ext cx="2576186" cy="588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/>
              <a:t>Ledge Clipping</a:t>
            </a:r>
            <a:endParaRPr kumimoji="1" lang="ja-JP" altLang="en-US" sz="2400"/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83105DF5-1609-B818-7D06-2DF6D9EA0E15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8883404" y="3163908"/>
            <a:ext cx="3600" cy="2284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90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2CDD-D5E0-D5E6-C64A-680BA9118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C15CE-C9D7-7BBA-2ED5-14B8370F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Alternative Approaches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7E4A3A-3533-5346-BC65-561DF8E11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57" y="2224913"/>
            <a:ext cx="11523285" cy="3845688"/>
          </a:xfrm>
        </p:spPr>
        <p:txBody>
          <a:bodyPr/>
          <a:lstStyle/>
          <a:p>
            <a:r>
              <a:rPr kumimoji="1" lang="en" altLang="ja-JP" sz="3200" b="1" dirty="0"/>
              <a:t>Simplification</a:t>
            </a:r>
            <a:r>
              <a:rPr kumimoji="1" lang="en" altLang="ja-JP" sz="3200" dirty="0"/>
              <a:t>: Removing redundant labels to ensure a streamlined and minimal list</a:t>
            </a:r>
            <a:r>
              <a:rPr kumimoji="1" lang="ja-JP" altLang="en" sz="3200"/>
              <a:t>．</a:t>
            </a:r>
            <a:endParaRPr kumimoji="1" lang="en-US" altLang="ja-JP" sz="3200" dirty="0"/>
          </a:p>
          <a:p>
            <a:r>
              <a:rPr kumimoji="1" lang="en" altLang="ja-JP" sz="3200" b="1" dirty="0"/>
              <a:t>Generalized Classification</a:t>
            </a:r>
            <a:r>
              <a:rPr kumimoji="1" lang="en" altLang="ja-JP" sz="3200" dirty="0"/>
              <a:t>: Adopting high-level categories like </a:t>
            </a:r>
            <a:r>
              <a:rPr kumimoji="1" lang="en" altLang="ja-JP" sz="3200" dirty="0" err="1"/>
              <a:t>OoB</a:t>
            </a:r>
            <a:r>
              <a:rPr kumimoji="1" lang="en" altLang="ja-JP" sz="3200" dirty="0"/>
              <a:t> (Out of Bounds) and SG (Speed Glitch), consistent with our previous research</a:t>
            </a:r>
            <a:r>
              <a:rPr kumimoji="1" lang="ja-JP" altLang="en" sz="3200"/>
              <a:t>．</a:t>
            </a:r>
            <a:endParaRPr kumimoji="1" lang="en-US" altLang="ja-JP" sz="3200" dirty="0"/>
          </a:p>
          <a:p>
            <a:r>
              <a:rPr lang="en" altLang="ja-JP" sz="3200" b="1" dirty="0"/>
              <a:t>Taxonomy Alignment</a:t>
            </a:r>
            <a:r>
              <a:rPr lang="en" altLang="ja-JP" sz="3200" dirty="0"/>
              <a:t>: Following the taxonomy of prior work to maintain consistency with established research</a:t>
            </a:r>
            <a:r>
              <a:rPr lang="ja-JP" altLang="en" sz="3200"/>
              <a:t>．</a:t>
            </a:r>
            <a:endParaRPr kumimoji="1" lang="en" altLang="ja-JP" sz="3200" dirty="0"/>
          </a:p>
        </p:txBody>
      </p:sp>
    </p:spTree>
    <p:extLst>
      <p:ext uri="{BB962C8B-B14F-4D97-AF65-F5344CB8AC3E}">
        <p14:creationId xmlns:p14="http://schemas.microsoft.com/office/powerpoint/2010/main" val="4069986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1F36-2DCB-0460-CD85-46A87BBF6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2786F7-0695-7581-3FDC-7BA1178C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Key Question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881D7B-5786-4E1E-47E8-E69C55700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57" y="3672713"/>
            <a:ext cx="11523285" cy="937387"/>
          </a:xfrm>
        </p:spPr>
        <p:txBody>
          <a:bodyPr/>
          <a:lstStyle/>
          <a:p>
            <a:r>
              <a:rPr kumimoji="1" lang="en" altLang="ja-JP" sz="3200" dirty="0"/>
              <a:t>Given our goal of supporting the speedrun community</a:t>
            </a:r>
            <a:r>
              <a:rPr kumimoji="1" lang="ja-JP" altLang="en" sz="3200"/>
              <a:t>，</a:t>
            </a:r>
            <a:r>
              <a:rPr kumimoji="1" lang="en" altLang="ja-JP" sz="3200" dirty="0"/>
              <a:t>which of these approaches is the most appropriate?</a:t>
            </a:r>
          </a:p>
        </p:txBody>
      </p:sp>
    </p:spTree>
    <p:extLst>
      <p:ext uri="{BB962C8B-B14F-4D97-AF65-F5344CB8AC3E}">
        <p14:creationId xmlns:p14="http://schemas.microsoft.com/office/powerpoint/2010/main" val="3654698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3" id="{3B6E5C82-52D9-9442-925A-A060D1D00EE8}" vid="{21B85367-8F89-5349-BD4C-30269E5A76A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テーマ</Template>
  <TotalTime>27350</TotalTime>
  <Words>1246</Words>
  <Application>Microsoft Macintosh PowerPoint</Application>
  <PresentationFormat>ワイド画面</PresentationFormat>
  <Paragraphs>60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Hiragino Kaku Gothic Pro W3</vt:lpstr>
      <vt:lpstr>Hiragino Kaku Gothic Pro W6</vt:lpstr>
      <vt:lpstr>游ゴシック</vt:lpstr>
      <vt:lpstr>Arial</vt:lpstr>
      <vt:lpstr>Office テーマ</vt:lpstr>
      <vt:lpstr>Review of Previous Meeting</vt:lpstr>
      <vt:lpstr>Single-frame VLM Test</vt:lpstr>
      <vt:lpstr>Frame Sequence VLM Test</vt:lpstr>
      <vt:lpstr>Expand Annotation Data</vt:lpstr>
      <vt:lpstr>Annotation Results</vt:lpstr>
      <vt:lpstr>Is the current glitch list appropriate?</vt:lpstr>
      <vt:lpstr>Our Proposal: Hierarchical Glitch List</vt:lpstr>
      <vt:lpstr>Alternative Approaches</vt:lpstr>
      <vt:lpstr>Key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UENAKA Yuto</dc:creator>
  <cp:lastModifiedBy>UENAKA Yuto</cp:lastModifiedBy>
  <cp:revision>11</cp:revision>
  <dcterms:created xsi:type="dcterms:W3CDTF">2026-04-06T02:46:13Z</dcterms:created>
  <dcterms:modified xsi:type="dcterms:W3CDTF">2026-04-30T07:27:43Z</dcterms:modified>
</cp:coreProperties>
</file>