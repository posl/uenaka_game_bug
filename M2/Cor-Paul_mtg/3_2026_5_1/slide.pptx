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59" r:id="rId3"/>
    <p:sldId id="261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95"/>
    <p:restoredTop sz="84558"/>
  </p:normalViewPr>
  <p:slideViewPr>
    <p:cSldViewPr snapToGrid="0">
      <p:cViewPr varScale="1">
        <p:scale>
          <a:sx n="105" d="100"/>
          <a:sy n="105" d="100"/>
        </p:scale>
        <p:origin x="20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E84B2-C7FA-F64D-A93C-8A78A8AA0602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ECD7F5-C0ED-D845-8933-D4442048DD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18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"Let’s start with a review of our previous meeting</a:t>
            </a:r>
            <a:r>
              <a:rPr lang="ja-JP" altLang="en"/>
              <a:t>．</a:t>
            </a:r>
            <a:r>
              <a:rPr lang="en" altLang="ja-JP" dirty="0"/>
              <a:t>A key decision from last time was to establish our research focus on 'Automated Organization of Optimal Speedrun Strategy Evolution'</a:t>
            </a:r>
            <a:r>
              <a:rPr lang="ja-JP" altLang="en"/>
              <a:t>．</a:t>
            </a:r>
            <a:r>
              <a:rPr lang="en" altLang="ja-JP" dirty="0"/>
              <a:t>Regarding our technical approach</a:t>
            </a:r>
            <a:r>
              <a:rPr lang="ja-JP" altLang="en"/>
              <a:t>，</a:t>
            </a:r>
            <a:r>
              <a:rPr lang="en" altLang="ja-JP" dirty="0"/>
              <a:t>we agreed to adopt a methodology similar to Wentao et al</a:t>
            </a:r>
            <a:r>
              <a:rPr lang="ja-JP" altLang="en"/>
              <a:t>．，</a:t>
            </a:r>
            <a:r>
              <a:rPr lang="en" altLang="ja-JP" dirty="0"/>
              <a:t>utilizing an LLM pre-trained with a specific glitch list for video analysis</a:t>
            </a:r>
            <a:r>
              <a:rPr lang="ja-JP" altLang="en"/>
              <a:t>．</a:t>
            </a:r>
            <a:r>
              <a:rPr lang="en" altLang="ja-JP" dirty="0"/>
              <a:t>Our primary to-do items following that meeting were to create a comprehensive SM64 glitch list and to </a:t>
            </a:r>
            <a:r>
              <a:rPr lang="en" altLang="ja-JP" b="1" dirty="0"/>
              <a:t>select a World Record video and perform a detection test</a:t>
            </a:r>
            <a:r>
              <a:rPr lang="en" altLang="ja-JP" dirty="0"/>
              <a:t> using VLM and LLM based on that list</a:t>
            </a:r>
            <a:r>
              <a:rPr lang="ja-JP" altLang="en"/>
              <a:t>．</a:t>
            </a:r>
            <a:r>
              <a:rPr lang="en" altLang="ja-JP" dirty="0"/>
              <a:t>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807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"Moving on to our current progress. I have successfully compiled a specialized list of SM64 speedrun glitches and completed the manual frame-by-frame labeling for the selected World Record video. I’ve also performed a statistical analysis of these glitch occurrences. Currently, I am in the process of reviewing Wentao’s paper to deeply understand and correctly implement their methodology. The next step will be to conduct a performance test using this Wentao-inspired approach."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412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ja-JP" dirty="0"/>
              <a:t>"Regarding the creation of the SM64 glitch list , I initially used </a:t>
            </a:r>
            <a:r>
              <a:rPr kumimoji="1" lang="en" altLang="ja-JP" dirty="0" err="1"/>
              <a:t>NotebookLM</a:t>
            </a:r>
            <a:r>
              <a:rPr kumimoji="1" lang="en" altLang="ja-JP" dirty="0"/>
              <a:t> to crawl relevant websites. However, I found that many existing wikis contained significant 'noise,' such as glitches that aren't used in speedruns or intended game mechanics. To resolve this, I identified four highly reliable sources and went through an iterative refinement process using AI tools and manual feedback. This resulted in a finalized list of 19 specific glitches."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341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"For the video labeling, I selected </a:t>
            </a:r>
            <a:r>
              <a:rPr lang="en" altLang="ja-JP" dirty="0" err="1"/>
              <a:t>Suigi’s</a:t>
            </a:r>
            <a:r>
              <a:rPr lang="en" altLang="ja-JP" dirty="0"/>
              <a:t> 0-star category world record. This record was achieved on December 30, 2025, with a final time of 6 minutes and 14 seconds. To ensure high-quality ground truth data, I performed manual annotation of all glitch occurrences at a per-frame level. This level of granularity is crucial for evaluating our detection model’s accuracy."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ja-JP" dirty="0"/>
              <a:t>"On this slide</a:t>
            </a:r>
            <a:r>
              <a:rPr kumimoji="1" lang="ja-JP" altLang="en"/>
              <a:t>，</a:t>
            </a:r>
            <a:r>
              <a:rPr kumimoji="1" lang="en" altLang="ja-JP" dirty="0"/>
              <a:t>we will look at the statistical analysis of the glitch occurrences </a:t>
            </a:r>
            <a:r>
              <a:rPr kumimoji="1" lang="ja-JP" altLang="en"/>
              <a:t>．</a:t>
            </a:r>
            <a:r>
              <a:rPr kumimoji="1" lang="en" altLang="ja-JP" dirty="0"/>
              <a:t>First</a:t>
            </a:r>
            <a:r>
              <a:rPr kumimoji="1" lang="ja-JP" altLang="en"/>
              <a:t>，</a:t>
            </a:r>
            <a:r>
              <a:rPr kumimoji="1" lang="en" altLang="ja-JP" dirty="0"/>
              <a:t>let me explain what we see here </a:t>
            </a:r>
            <a:r>
              <a:rPr kumimoji="1" lang="ja-JP" altLang="en"/>
              <a:t>．</a:t>
            </a:r>
            <a:r>
              <a:rPr kumimoji="1" lang="en" altLang="ja-JP" dirty="0"/>
              <a:t>The table at the top summarizes each glitch by its frequency and total duration in frames </a:t>
            </a:r>
            <a:r>
              <a:rPr kumimoji="1" lang="ja-JP" altLang="en"/>
              <a:t>．</a:t>
            </a:r>
            <a:r>
              <a:rPr kumimoji="1" lang="en" altLang="ja-JP" dirty="0"/>
              <a:t>The visualization chart below maps these glitches onto the video’s timeline</a:t>
            </a:r>
            <a:r>
              <a:rPr kumimoji="1" lang="ja-JP" altLang="en"/>
              <a:t>，</a:t>
            </a:r>
            <a:r>
              <a:rPr kumimoji="1" lang="en" altLang="ja-JP" dirty="0"/>
              <a:t>showing exactly when they occur during the run </a:t>
            </a:r>
            <a:r>
              <a:rPr kumimoji="1" lang="ja-JP" altLang="en"/>
              <a:t>．</a:t>
            </a:r>
            <a:r>
              <a:rPr kumimoji="1" lang="en" altLang="ja-JP" dirty="0"/>
              <a:t>""In this world record video</a:t>
            </a:r>
            <a:r>
              <a:rPr kumimoji="1" lang="ja-JP" altLang="en"/>
              <a:t>，</a:t>
            </a:r>
            <a:r>
              <a:rPr kumimoji="1" lang="en" altLang="ja-JP" dirty="0"/>
              <a:t>five types of glitches were utilized </a:t>
            </a:r>
            <a:r>
              <a:rPr kumimoji="1" lang="ja-JP" altLang="en"/>
              <a:t>．</a:t>
            </a:r>
            <a:r>
              <a:rPr kumimoji="1" lang="en" altLang="ja-JP" dirty="0"/>
              <a:t>I will now walk through the data for each </a:t>
            </a:r>
            <a:r>
              <a:rPr kumimoji="1" lang="en" altLang="ja-JP" dirty="0" err="1"/>
              <a:t>type:"BLJ</a:t>
            </a:r>
            <a:r>
              <a:rPr kumimoji="1" lang="en" altLang="ja-JP" dirty="0"/>
              <a:t>: This glitch involves accumulating speed via backward jumps to clip through walls </a:t>
            </a:r>
            <a:r>
              <a:rPr kumimoji="1" lang="ja-JP" altLang="en"/>
              <a:t>．</a:t>
            </a:r>
            <a:r>
              <a:rPr kumimoji="1" lang="en" altLang="ja-JP" dirty="0"/>
              <a:t>As shown in the visualization</a:t>
            </a:r>
            <a:r>
              <a:rPr kumimoji="1" lang="ja-JP" altLang="en"/>
              <a:t>，</a:t>
            </a:r>
            <a:r>
              <a:rPr kumimoji="1" lang="en" altLang="ja-JP" dirty="0"/>
              <a:t>it was used in three separate instances for a total of 339 frames </a:t>
            </a:r>
            <a:r>
              <a:rPr kumimoji="1" lang="ja-JP" altLang="en"/>
              <a:t>．</a:t>
            </a:r>
            <a:r>
              <a:rPr kumimoji="1" lang="en" altLang="ja-JP" dirty="0"/>
              <a:t>LBLJ: This is a specific BLJ performed in the lobby to bypass the 8-star door </a:t>
            </a:r>
            <a:r>
              <a:rPr kumimoji="1" lang="ja-JP" altLang="en"/>
              <a:t>．</a:t>
            </a:r>
            <a:r>
              <a:rPr kumimoji="1" lang="en" altLang="ja-JP" dirty="0"/>
              <a:t>It occurred once for a duration of 170 frames </a:t>
            </a:r>
            <a:r>
              <a:rPr kumimoji="1" lang="ja-JP" altLang="en"/>
              <a:t>．</a:t>
            </a:r>
            <a:r>
              <a:rPr kumimoji="1" lang="en" altLang="ja-JP" dirty="0"/>
              <a:t>DDD Skip: This bypasses the 30-star door and the Dire, Dire Docks entrance </a:t>
            </a:r>
            <a:r>
              <a:rPr kumimoji="1" lang="ja-JP" altLang="en"/>
              <a:t>．</a:t>
            </a:r>
            <a:r>
              <a:rPr kumimoji="1" lang="en" altLang="ja-JP" dirty="0"/>
              <a:t>It was used once and lasted 179 frames </a:t>
            </a:r>
            <a:r>
              <a:rPr kumimoji="1" lang="ja-JP" altLang="en"/>
              <a:t>．</a:t>
            </a:r>
            <a:r>
              <a:rPr kumimoji="1" lang="en" altLang="ja-JP" dirty="0"/>
              <a:t>Pole Glitch: This allows Mario to warp from the bottom of a pole to the top instantly </a:t>
            </a:r>
            <a:r>
              <a:rPr kumimoji="1" lang="ja-JP" altLang="en"/>
              <a:t>．</a:t>
            </a:r>
            <a:r>
              <a:rPr kumimoji="1" lang="en" altLang="ja-JP" dirty="0"/>
              <a:t>It appears once on the timeline for 34 frames </a:t>
            </a:r>
            <a:r>
              <a:rPr kumimoji="1" lang="ja-JP" altLang="en"/>
              <a:t>．</a:t>
            </a:r>
            <a:r>
              <a:rPr kumimoji="1" lang="en" altLang="ja-JP" dirty="0"/>
              <a:t>Ledge Clipping: This involves clipping through walls via geometry seams </a:t>
            </a:r>
            <a:r>
              <a:rPr kumimoji="1" lang="ja-JP" altLang="en"/>
              <a:t>．</a:t>
            </a:r>
            <a:r>
              <a:rPr kumimoji="1" lang="en" altLang="ja-JP" dirty="0"/>
              <a:t>It was performed twice</a:t>
            </a:r>
            <a:r>
              <a:rPr kumimoji="1" lang="ja-JP" altLang="en"/>
              <a:t>，</a:t>
            </a:r>
            <a:r>
              <a:rPr kumimoji="1" lang="en" altLang="ja-JP" dirty="0"/>
              <a:t>totaling 54 frames </a:t>
            </a:r>
            <a:r>
              <a:rPr kumimoji="1" lang="ja-JP" altLang="en"/>
              <a:t>．</a:t>
            </a:r>
            <a:r>
              <a:rPr kumimoji="1" lang="en" altLang="ja-JP" dirty="0"/>
              <a:t>"In summary</a:t>
            </a:r>
            <a:r>
              <a:rPr kumimoji="1" lang="ja-JP" altLang="en"/>
              <a:t>，</a:t>
            </a:r>
            <a:r>
              <a:rPr kumimoji="1" lang="en" altLang="ja-JP" dirty="0"/>
              <a:t>we captured 8 total glitch occurrences </a:t>
            </a:r>
            <a:r>
              <a:rPr kumimoji="1" lang="ja-JP" altLang="en"/>
              <a:t>．</a:t>
            </a:r>
            <a:r>
              <a:rPr kumimoji="1" lang="en" altLang="ja-JP" dirty="0"/>
              <a:t>These results identify the exact moments where glitches were actively used for a grand total of 776 frames throughout the run </a:t>
            </a:r>
            <a:r>
              <a:rPr kumimoji="1" lang="ja-JP" altLang="en"/>
              <a:t>．</a:t>
            </a:r>
            <a:r>
              <a:rPr kumimoji="1" lang="en" altLang="ja-JP" dirty="0"/>
              <a:t>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8068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"Finally, for our future plans , my immediate goal is to complete the implementation and testing of the glitch identification system. I aim to finalize these results by April 15th. Our next meeting is scheduled for April 22nd at the earliest, though it may move to the 29th. To maintain our momentum, I will share the results on Slack as soon as they are ready rather than waiting for the next formal meeting."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7045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5160BE-DC95-B6F6-731E-994F9476B9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 rIns="720000" anchor="ctr" anchorCtr="0">
            <a:noAutofit/>
          </a:bodyPr>
          <a:lstStyle>
            <a:lvl1pPr algn="l">
              <a:defRPr sz="5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31AB90-5F2E-DC72-BE98-A4BD40518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2386800"/>
          </a:xfrm>
        </p:spPr>
        <p:txBody>
          <a:bodyPr lIns="720000" anchor="ctr" anchorCtr="0"/>
          <a:lstStyle>
            <a:lvl1pPr marL="0" indent="0" algn="l">
              <a:buNone/>
              <a:defRPr sz="3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0849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88B94-F420-0AEE-C1B4-C46023B39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92BB6F-071E-5F52-9A73-E1FFF95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D5A362-49EF-EA98-879E-DED32A1FB1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506698-8264-ACC8-A887-D495AF216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1CCB51-2FFF-CF11-6F71-504273CB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015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E43D71-0FC5-C6CB-E505-0B25DCE4A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999E306-9401-400F-1706-1CFFDBE13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3FD7EB-922B-53E1-E76A-6564358679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26476D-9ECD-4526-0702-7147363D5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99B534-0CA7-15E0-55CC-5CDAD2A44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7310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D328F-556F-47A6-D057-2412F4A02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B01DA5-1144-AD25-947F-72B5E71EB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896061-28BA-CA19-2915-CBE25F988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44F6F1-31E4-543B-5216-C97ED0EECD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83A9CD-BF69-BFBC-B9F4-CDC2817C4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CB07BE-1EDB-34E3-465C-8D58E7130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7055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D66F85-B020-FC88-26AD-B0B6E525C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E28E60-F492-8CD9-317C-4A9BEC60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0A8B702-68CF-F419-8231-C18F93898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C49842-EF30-0E76-F9AE-D7EDD073E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8ED0D73-9BD8-1DB0-4987-1A876D6E8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B02C85F-A2BB-049E-C4A1-ADD844900D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F97CBA7-5C65-F742-2F19-32CF191DD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29E62F-5A44-F2C5-7BFA-6CAB75FF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9874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C9F59C-63BF-26FB-7E31-4BA77418A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80F260-D6FE-1B99-124C-5A1860972A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7523E9-F2CE-02A2-D985-F59A12F44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09582D-4161-6DA8-D989-FCD2470E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4143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8167870-1870-356C-F5AA-014D74AA39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E141A56-5A34-70A9-281C-14C1796B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5EB337-C634-800C-2EC0-92E30C4FB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05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2B9812-A236-789B-6C3E-7432A9009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39DDBA-075C-A6A8-E0BE-6E5DC3C3A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D9F07CE-F8E5-BE5D-0BE1-12BF3B14F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8546B-1A25-D844-D380-E4ACEDBE0E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D4E8DA-1426-3EE8-263F-5F186CBA9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0552B7-3E0C-81F5-5D26-7D5CE5120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90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1234F9-D436-594E-A77C-67CF5CC84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E5EC064-58C4-718E-E3A4-9D190949FC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AC035E-332C-ACA2-925C-762C2E929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BF80A8-A1CE-873D-CBB9-F3862350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C35D3-CE53-8436-C7AF-ED4882FB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87E7BB6-ED2E-9029-0470-D17B164F8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5298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18F24B-D2C1-168B-2ADA-0E0C47DD9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6B44C5-9095-7319-98C8-E65B91CAA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7D1A0B-E42C-96E8-EF5B-F2CCCF577F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1DFD45-FA58-CC72-A1EE-D1EFA8D3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79EA5B-B4F3-7302-BB46-10150AA08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5222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7748BCB-108B-C6AA-709E-010C0BE522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2143EB4-B772-BF89-44A3-6CBF3FC96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5E7CE4-8C14-40DB-A249-729C7E1EBB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982FDA-B4E8-DE09-EEA0-326226C73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8E5E24-3DFA-80CA-0CA4-D5A51D4E1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745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79EA8F5-6D3B-4965-13F6-614BA8771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vert="horz" lIns="72000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DC3AE09-66B7-59AA-3E88-9CFC66670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71B38F-830F-F23D-9DB9-2B21AEBDA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0" i="0">
                <a:solidFill>
                  <a:schemeClr val="tx1">
                    <a:tint val="82000"/>
                  </a:schemeClr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defRPr>
            </a:lvl1pPr>
          </a:lstStyle>
          <a:p>
            <a:fld id="{5BC92305-B013-E149-9F60-03E7F142D13C}" type="slidenum">
              <a:rPr lang="ja-JP" altLang="en-US" smtClean="0"/>
              <a:pPr/>
              <a:t>‹#›</a:t>
            </a:fld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49702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i="0" kern="1200">
          <a:solidFill>
            <a:schemeClr val="bg1"/>
          </a:solidFill>
          <a:latin typeface="Hiragino Kaku Gothic Pro W6" panose="020B0300000000000000" pitchFamily="34" charset="-128"/>
          <a:ea typeface="Hiragino Kaku Gothic Pro W6" panose="020B0300000000000000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8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2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C8DCF5-4F3A-3B06-C21A-FDD7EF563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Review of Previous Meeting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D97229-048A-71AD-D496-252ECDBFF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655"/>
            <a:ext cx="10515600" cy="5209875"/>
          </a:xfrm>
        </p:spPr>
        <p:txBody>
          <a:bodyPr/>
          <a:lstStyle/>
          <a:p>
            <a:r>
              <a:rPr lang="en" altLang="ja-JP" sz="3200" b="1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To-Do </a:t>
            </a:r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Items</a:t>
            </a:r>
          </a:p>
          <a:p>
            <a:pPr lvl="1"/>
            <a:r>
              <a:rPr lang="en" altLang="ja-JP" dirty="0"/>
              <a:t>Create a comprehensive list of Super Mario 64 (SM64) speedrun glitches.</a:t>
            </a:r>
          </a:p>
          <a:p>
            <a:pPr lvl="1"/>
            <a:r>
              <a:rPr lang="en" altLang="ja-JP" dirty="0"/>
              <a:t>Select a World Record (WR) video and perform a detection test using VLM/LLM based on the prepared list. </a:t>
            </a:r>
            <a:endParaRPr lang="en" altLang="ja-JP" b="1" dirty="0">
              <a:latin typeface="Hiragino Kaku Gothic Pro W6" panose="020B0300000000000000" pitchFamily="34" charset="-128"/>
              <a:ea typeface="Hiragino Kaku Gothic Pro W6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5781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FD2ED9-4DD9-19E7-C6B3-9CB244294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Current Progress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B41AD2-AB9A-622C-0816-4B420E896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791"/>
            <a:ext cx="10515600" cy="5387209"/>
          </a:xfrm>
        </p:spPr>
        <p:txBody>
          <a:bodyPr/>
          <a:lstStyle/>
          <a:p>
            <a:r>
              <a:rPr kumimoji="1" lang="en-US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Completed</a:t>
            </a:r>
          </a:p>
          <a:p>
            <a:pPr lvl="1"/>
            <a:r>
              <a:rPr lang="en" altLang="ja-JP" dirty="0"/>
              <a:t>Compiled a specialized list of SM64 speedrun glitches.</a:t>
            </a:r>
          </a:p>
          <a:p>
            <a:pPr lvl="1"/>
            <a:r>
              <a:rPr lang="en" altLang="ja-JP" dirty="0"/>
              <a:t>Selected a WR video and completed manual frame-by-frame labeling.</a:t>
            </a:r>
          </a:p>
          <a:p>
            <a:pPr lvl="1"/>
            <a:r>
              <a:rPr lang="en" altLang="ja-JP" dirty="0"/>
              <a:t>Performed a statistical analysis of glitch occurrences in the selected video.</a:t>
            </a:r>
          </a:p>
          <a:p>
            <a:r>
              <a:rPr lang="en-US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Ongoing</a:t>
            </a:r>
          </a:p>
          <a:p>
            <a:pPr lvl="1"/>
            <a:r>
              <a:rPr lang="en" altLang="ja-JP" dirty="0"/>
              <a:t>Reviewing Wentao’s paper to deeply understand and implement the proposed methodology.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Next Steps</a:t>
            </a:r>
          </a:p>
          <a:p>
            <a:pPr lvl="1"/>
            <a:r>
              <a:rPr lang="en" altLang="ja-JP" dirty="0"/>
              <a:t>Conduct a performance test to identify glitches in the selected video using the Wentao-inspired approach.</a:t>
            </a:r>
          </a:p>
        </p:txBody>
      </p:sp>
    </p:spTree>
    <p:extLst>
      <p:ext uri="{BB962C8B-B14F-4D97-AF65-F5344CB8AC3E}">
        <p14:creationId xmlns:p14="http://schemas.microsoft.com/office/powerpoint/2010/main" val="4153934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423044-EC8E-09FD-DF5B-9B227E0A3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Creation of SM64 Glitch List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E8E94B6-7A28-A9CB-FF49-A9ADD1EAC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3352"/>
            <a:ext cx="10515600" cy="4693510"/>
          </a:xfrm>
        </p:spPr>
        <p:txBody>
          <a:bodyPr/>
          <a:lstStyle/>
          <a:p>
            <a:r>
              <a:rPr kumimoji="1" lang="en" altLang="ja-JP" sz="2800" b="1" dirty="0"/>
              <a:t>Initial Search</a:t>
            </a:r>
            <a:r>
              <a:rPr kumimoji="1" lang="en" altLang="ja-JP" sz="2800" dirty="0"/>
              <a:t>: Used </a:t>
            </a:r>
            <a:r>
              <a:rPr kumimoji="1" lang="en" altLang="ja-JP" sz="2800" dirty="0" err="1"/>
              <a:t>NotebookLM</a:t>
            </a:r>
            <a:r>
              <a:rPr kumimoji="1" lang="en" altLang="ja-JP" sz="2800" dirty="0"/>
              <a:t> to crawl relevant websites.</a:t>
            </a:r>
          </a:p>
          <a:p>
            <a:r>
              <a:rPr lang="en" altLang="ja-JP" sz="2800" b="1" dirty="0"/>
              <a:t>Data Cleaning</a:t>
            </a:r>
            <a:r>
              <a:rPr lang="en" altLang="ja-JP" sz="2800" dirty="0"/>
              <a:t>: Existing wikis often contained "noise," such as glitches irrelevant to speedrunning or intended game mechanics.</a:t>
            </a:r>
          </a:p>
          <a:p>
            <a:r>
              <a:rPr lang="en" altLang="ja-JP" sz="2800" b="1" dirty="0"/>
              <a:t>Source Selection</a:t>
            </a:r>
            <a:r>
              <a:rPr lang="en" altLang="ja-JP" sz="2800" dirty="0"/>
              <a:t>: Identified four reliable sources.</a:t>
            </a:r>
          </a:p>
          <a:p>
            <a:r>
              <a:rPr lang="en" altLang="ja-JP" sz="2800" b="1" dirty="0"/>
              <a:t>Iterative Refinement</a:t>
            </a:r>
            <a:r>
              <a:rPr lang="en" altLang="ja-JP" sz="2800" dirty="0"/>
              <a:t>: Collaborated with </a:t>
            </a:r>
            <a:r>
              <a:rPr lang="en" altLang="ja-JP" sz="2800" dirty="0" err="1"/>
              <a:t>NotebookLM</a:t>
            </a:r>
            <a:r>
              <a:rPr lang="en" altLang="ja-JP" sz="2800" dirty="0"/>
              <a:t> through a cycle of automated generation and manual feedback, resulting in a finalized list of 19 specific glitches.</a:t>
            </a:r>
            <a:endParaRPr kumimoji="1" lang="ja-JP" altLang="en-US" sz="2800"/>
          </a:p>
        </p:txBody>
      </p:sp>
    </p:spTree>
    <p:extLst>
      <p:ext uri="{BB962C8B-B14F-4D97-AF65-F5344CB8AC3E}">
        <p14:creationId xmlns:p14="http://schemas.microsoft.com/office/powerpoint/2010/main" val="287396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0BC25-D166-1BA5-0A61-079E7B971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38AB5-73F6-5D99-FE5A-FD5101347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Labeling of World Record Video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AA4EF7-AD9F-B069-CC70-AA6C5C71B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97" y="2535629"/>
            <a:ext cx="11288806" cy="3230470"/>
          </a:xfrm>
        </p:spPr>
        <p:txBody>
          <a:bodyPr/>
          <a:lstStyle/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Selected Video</a:t>
            </a:r>
          </a:p>
          <a:p>
            <a:pPr lvl="1"/>
            <a:r>
              <a:rPr lang="en" altLang="ja-JP" b="1" dirty="0"/>
              <a:t>Category</a:t>
            </a:r>
            <a:r>
              <a:rPr lang="en" altLang="ja-JP" dirty="0"/>
              <a:t>: 0 Star</a:t>
            </a:r>
          </a:p>
          <a:p>
            <a:pPr lvl="1"/>
            <a:r>
              <a:rPr kumimoji="1" lang="en" altLang="ja-JP" b="1" dirty="0"/>
              <a:t>Runner</a:t>
            </a:r>
            <a:r>
              <a:rPr kumimoji="1" lang="en" altLang="ja-JP" dirty="0"/>
              <a:t>: </a:t>
            </a:r>
            <a:r>
              <a:rPr kumimoji="1" lang="en" altLang="ja-JP" dirty="0" err="1"/>
              <a:t>Suigi</a:t>
            </a:r>
            <a:endParaRPr kumimoji="1" lang="en" altLang="ja-JP" dirty="0"/>
          </a:p>
          <a:p>
            <a:pPr lvl="1"/>
            <a:r>
              <a:rPr lang="en" altLang="ja-JP" b="1" dirty="0"/>
              <a:t>Record</a:t>
            </a:r>
            <a:r>
              <a:rPr lang="en" altLang="ja-JP" dirty="0"/>
              <a:t>: 6m 14s 190ms (Achieved on December 30, 2025)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Labeling Methodology</a:t>
            </a:r>
          </a:p>
          <a:p>
            <a:pPr lvl="1"/>
            <a:r>
              <a:rPr lang="en" altLang="ja-JP" b="1" dirty="0"/>
              <a:t>Granularity</a:t>
            </a:r>
            <a:r>
              <a:rPr lang="en" altLang="ja-JP" dirty="0"/>
              <a:t>: Performed manual annotation of glitch occurrences at a per-frame level.</a:t>
            </a:r>
            <a:endParaRPr kumimoji="1" lang="en" altLang="ja-JP" dirty="0"/>
          </a:p>
        </p:txBody>
      </p:sp>
    </p:spTree>
    <p:extLst>
      <p:ext uri="{BB962C8B-B14F-4D97-AF65-F5344CB8AC3E}">
        <p14:creationId xmlns:p14="http://schemas.microsoft.com/office/powerpoint/2010/main" val="3733516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0ABDE-37B0-1531-2ADB-754B610FD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430767"/>
          </a:xfrm>
        </p:spPr>
        <p:txBody>
          <a:bodyPr/>
          <a:lstStyle/>
          <a:p>
            <a:r>
              <a:rPr lang="en" altLang="ja-JP" dirty="0"/>
              <a:t>Statistical Analysis of Glitch Occurrences</a:t>
            </a:r>
            <a:endParaRPr kumimoji="1" lang="ja-JP" alt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0DC250DC-AFB6-1BB8-5EC4-9D2C05F505E2}"/>
              </a:ext>
            </a:extLst>
          </p:cNvPr>
          <p:cNvSpPr txBox="1">
            <a:spLocks/>
          </p:cNvSpPr>
          <p:nvPr/>
        </p:nvSpPr>
        <p:spPr>
          <a:xfrm>
            <a:off x="451597" y="1795090"/>
            <a:ext cx="11288806" cy="507326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2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Glitch Statistics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FCD13D7-6155-1375-D715-49359DF053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94" t="11106" r="1301" b="13838"/>
          <a:stretch>
            <a:fillRect/>
          </a:stretch>
        </p:blipFill>
        <p:spPr>
          <a:xfrm>
            <a:off x="46160" y="5550087"/>
            <a:ext cx="12145840" cy="1054250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DE02A6A-4CC2-CBE2-FEEE-4F379CF0C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1134"/>
              </p:ext>
            </p:extLst>
          </p:nvPr>
        </p:nvGraphicFramePr>
        <p:xfrm>
          <a:off x="276113" y="2302416"/>
          <a:ext cx="1163977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932">
                  <a:extLst>
                    <a:ext uri="{9D8B030D-6E8A-4147-A177-3AD203B41FA5}">
                      <a16:colId xmlns:a16="http://schemas.microsoft.com/office/drawing/2014/main" val="3140246248"/>
                    </a:ext>
                  </a:extLst>
                </a:gridCol>
                <a:gridCol w="6691256">
                  <a:extLst>
                    <a:ext uri="{9D8B030D-6E8A-4147-A177-3AD203B41FA5}">
                      <a16:colId xmlns:a16="http://schemas.microsoft.com/office/drawing/2014/main" val="19396706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235602003"/>
                    </a:ext>
                  </a:extLst>
                </a:gridCol>
                <a:gridCol w="2320066">
                  <a:extLst>
                    <a:ext uri="{9D8B030D-6E8A-4147-A177-3AD203B41FA5}">
                      <a16:colId xmlns:a16="http://schemas.microsoft.com/office/drawing/2014/main" val="4141290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Glitch Type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Simple Explanation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Freq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Duration (Frames)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09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BLJ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Accumulate speed via backward jumps to clip through walls.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3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96+138+105=339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778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LBLJ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Perform BLJ in the lobby to clip through the 8-star door.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170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75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DDD Skip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Bypass the 30-star door and the Dire, Dire Docks entrance.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179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783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Pole Glitch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Warp from the bottom of a pole to the top instantly.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34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433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Ledge Clipping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Clip through walls via geometry seams or collision gaps.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2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21+33=54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148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Total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8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776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8638210"/>
                  </a:ext>
                </a:extLst>
              </a:tr>
            </a:tbl>
          </a:graphicData>
        </a:graphic>
      </p:graphicFrame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5CF60600-DF1D-6349-BE50-D36FF9A38FCC}"/>
              </a:ext>
            </a:extLst>
          </p:cNvPr>
          <p:cNvSpPr txBox="1">
            <a:spLocks/>
          </p:cNvSpPr>
          <p:nvPr/>
        </p:nvSpPr>
        <p:spPr>
          <a:xfrm>
            <a:off x="451597" y="5296424"/>
            <a:ext cx="11288806" cy="507326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2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Visualization of Glitch Usage</a:t>
            </a:r>
          </a:p>
        </p:txBody>
      </p:sp>
    </p:spTree>
    <p:extLst>
      <p:ext uri="{BB962C8B-B14F-4D97-AF65-F5344CB8AC3E}">
        <p14:creationId xmlns:p14="http://schemas.microsoft.com/office/powerpoint/2010/main" val="349870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AEB0-DB24-FD04-B403-C8529BC1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9D793B-2881-5477-FDE4-493BEF91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Future Plans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B14055-F650-12EB-9EC5-6E6E896A7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97" y="1900928"/>
            <a:ext cx="11288806" cy="4403054"/>
          </a:xfrm>
        </p:spPr>
        <p:txBody>
          <a:bodyPr/>
          <a:lstStyle/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Short-term Goals</a:t>
            </a:r>
          </a:p>
          <a:p>
            <a:pPr lvl="1"/>
            <a:r>
              <a:rPr lang="en" altLang="ja-JP" dirty="0"/>
              <a:t>Complete the implementation and testing of the glitch identification system using Wentao’s methodology.</a:t>
            </a:r>
          </a:p>
          <a:p>
            <a:pPr lvl="1"/>
            <a:r>
              <a:rPr lang="en" altLang="ja-JP" b="1" dirty="0"/>
              <a:t>Target Deadline</a:t>
            </a:r>
            <a:r>
              <a:rPr lang="en" altLang="ja-JP" dirty="0"/>
              <a:t>: Results to be finalized by </a:t>
            </a:r>
            <a:r>
              <a:rPr lang="en" altLang="ja-JP" b="1" dirty="0"/>
              <a:t>April 15th</a:t>
            </a:r>
            <a:r>
              <a:rPr lang="en" altLang="ja-JP" dirty="0"/>
              <a:t>.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Reporting Plan</a:t>
            </a:r>
          </a:p>
          <a:p>
            <a:pPr lvl="1"/>
            <a:r>
              <a:rPr lang="en" altLang="ja-JP" dirty="0"/>
              <a:t>The next meeting is scheduled for April 22nd at the earliest (potentially moving to the 29th).</a:t>
            </a:r>
          </a:p>
          <a:p>
            <a:pPr lvl="1"/>
            <a:r>
              <a:rPr lang="en" altLang="ja-JP" dirty="0"/>
              <a:t>To maintain momentum, I will report the results via </a:t>
            </a:r>
            <a:r>
              <a:rPr lang="en" altLang="ja-JP" b="1" dirty="0"/>
              <a:t>Slack</a:t>
            </a:r>
            <a:r>
              <a:rPr lang="en" altLang="ja-JP" dirty="0"/>
              <a:t> as soon as they are available, rather than waiting for the next formal meeting.</a:t>
            </a:r>
            <a:endParaRPr kumimoji="1" lang="en" altLang="ja-JP" dirty="0"/>
          </a:p>
        </p:txBody>
      </p:sp>
    </p:spTree>
    <p:extLst>
      <p:ext uri="{BB962C8B-B14F-4D97-AF65-F5344CB8AC3E}">
        <p14:creationId xmlns:p14="http://schemas.microsoft.com/office/powerpoint/2010/main" val="4075356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3" id="{3B6E5C82-52D9-9442-925A-A060D1D00EE8}" vid="{21B85367-8F89-5349-BD4C-30269E5A76A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テーマ</Template>
  <TotalTime>22912</TotalTime>
  <Words>1068</Words>
  <Application>Microsoft Macintosh PowerPoint</Application>
  <PresentationFormat>ワイド画面</PresentationFormat>
  <Paragraphs>75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Hiragino Kaku Gothic Pro W3</vt:lpstr>
      <vt:lpstr>Hiragino Kaku Gothic Pro W6</vt:lpstr>
      <vt:lpstr>游ゴシック</vt:lpstr>
      <vt:lpstr>Arial</vt:lpstr>
      <vt:lpstr>Office テーマ</vt:lpstr>
      <vt:lpstr>Review of Previous Meeting</vt:lpstr>
      <vt:lpstr>Current Progress</vt:lpstr>
      <vt:lpstr>Creation of SM64 Glitch List</vt:lpstr>
      <vt:lpstr>Labeling of World Record Video</vt:lpstr>
      <vt:lpstr>Statistical Analysis of Glitch Occurrences</vt:lpstr>
      <vt:lpstr>Future Plans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UENAKA Yuto</dc:creator>
  <cp:lastModifiedBy>UENAKA Yuto</cp:lastModifiedBy>
  <cp:revision>7</cp:revision>
  <dcterms:created xsi:type="dcterms:W3CDTF">2026-04-06T02:46:13Z</dcterms:created>
  <dcterms:modified xsi:type="dcterms:W3CDTF">2026-04-22T00:40:36Z</dcterms:modified>
</cp:coreProperties>
</file>