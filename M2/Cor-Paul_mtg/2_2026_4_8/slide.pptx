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7" r:id="rId2"/>
    <p:sldId id="259" r:id="rId3"/>
    <p:sldId id="261" r:id="rId4"/>
    <p:sldId id="263" r:id="rId5"/>
    <p:sldId id="264" r:id="rId6"/>
    <p:sldId id="265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495"/>
    <p:restoredTop sz="84530"/>
  </p:normalViewPr>
  <p:slideViewPr>
    <p:cSldViewPr snapToGrid="0">
      <p:cViewPr varScale="1">
        <p:scale>
          <a:sx n="51" d="100"/>
          <a:sy n="51" d="100"/>
        </p:scale>
        <p:origin x="224" y="1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9E84B2-C7FA-F64D-A93C-8A78A8AA0602}" type="datetimeFigureOut">
              <a:rPr kumimoji="1" lang="ja-JP" altLang="en-US" smtClean="0"/>
              <a:t>2026/4/7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ECD7F5-C0ED-D845-8933-D4442048DDE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161896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ja-JP" dirty="0"/>
              <a:t>"Let’s start with a review of our previous meeting</a:t>
            </a:r>
            <a:r>
              <a:rPr lang="ja-JP" altLang="en"/>
              <a:t>．</a:t>
            </a:r>
            <a:r>
              <a:rPr lang="en" altLang="ja-JP" dirty="0"/>
              <a:t>A key decision from last time was to establish our research focus on 'Automated Organization of Optimal Speedrun Strategy Evolution'</a:t>
            </a:r>
            <a:r>
              <a:rPr lang="ja-JP" altLang="en"/>
              <a:t>．</a:t>
            </a:r>
            <a:r>
              <a:rPr lang="en" altLang="ja-JP" dirty="0"/>
              <a:t>Regarding our technical approach</a:t>
            </a:r>
            <a:r>
              <a:rPr lang="ja-JP" altLang="en"/>
              <a:t>，</a:t>
            </a:r>
            <a:r>
              <a:rPr lang="en" altLang="ja-JP" dirty="0"/>
              <a:t>we agreed to adopt a methodology similar to Wentao et al</a:t>
            </a:r>
            <a:r>
              <a:rPr lang="ja-JP" altLang="en"/>
              <a:t>．，</a:t>
            </a:r>
            <a:r>
              <a:rPr lang="en" altLang="ja-JP" dirty="0"/>
              <a:t>utilizing an LLM pre-trained with a specific glitch list for video analysis</a:t>
            </a:r>
            <a:r>
              <a:rPr lang="ja-JP" altLang="en"/>
              <a:t>．</a:t>
            </a:r>
            <a:r>
              <a:rPr lang="en" altLang="ja-JP" dirty="0"/>
              <a:t>Our primary to-do items following that meeting were to create a comprehensive SM64 glitch list and to </a:t>
            </a:r>
            <a:r>
              <a:rPr lang="en" altLang="ja-JP" b="1" dirty="0"/>
              <a:t>select a World Record video and perform a detection test</a:t>
            </a:r>
            <a:r>
              <a:rPr lang="en" altLang="ja-JP" dirty="0"/>
              <a:t> using VLM and LLM based on that list</a:t>
            </a:r>
            <a:r>
              <a:rPr lang="ja-JP" altLang="en"/>
              <a:t>．</a:t>
            </a:r>
            <a:r>
              <a:rPr lang="en" altLang="ja-JP" dirty="0"/>
              <a:t>"</a:t>
            </a: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ECD7F5-C0ED-D845-8933-D4442048DDE2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58077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ja-JP" dirty="0"/>
              <a:t>"Moving on to our current progress. I have successfully compiled a specialized list of SM64 speedrun glitches and completed the manual frame-by-frame labeling for the selected World Record video. I’ve also performed a statistical analysis of these glitch occurrences. Currently, I am in the process of reviewing Wentao’s paper to deeply understand and correctly implement their methodology. The next step will be to conduct a performance test using this Wentao-inspired approach."</a:t>
            </a: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ECD7F5-C0ED-D845-8933-D4442048DDE2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954121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" altLang="ja-JP" dirty="0"/>
              <a:t>"Regarding the creation of the SM64 glitch list , I initially used </a:t>
            </a:r>
            <a:r>
              <a:rPr kumimoji="1" lang="en" altLang="ja-JP" dirty="0" err="1"/>
              <a:t>NotebookLM</a:t>
            </a:r>
            <a:r>
              <a:rPr kumimoji="1" lang="en" altLang="ja-JP" dirty="0"/>
              <a:t> to crawl relevant websites. However, I found that many existing wikis contained significant 'noise,' such as glitches that aren't used in speedruns or intended game mechanics. To resolve this, I identified four highly reliable sources and went through an iterative refinement process using AI tools and manual feedback. This resulted in a finalized list of 19 specific glitches."</a:t>
            </a: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ECD7F5-C0ED-D845-8933-D4442048DDE2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843417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ja-JP" dirty="0"/>
              <a:t>"For the video labeling, I selected </a:t>
            </a:r>
            <a:r>
              <a:rPr lang="en" altLang="ja-JP" dirty="0" err="1"/>
              <a:t>Suigi’s</a:t>
            </a:r>
            <a:r>
              <a:rPr lang="en" altLang="ja-JP" dirty="0"/>
              <a:t> 0-star category world record. This record was achieved on December 30, 2025, with a final time of 6 minutes and 14 seconds. To ensure high-quality ground truth data, I performed manual annotation of all glitch occurrences at a per-frame level. This level of granularity is crucial for evaluating our detection model’s accuracy."</a:t>
            </a: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ECD7F5-C0ED-D845-8933-D4442048DDE2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59880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" altLang="ja-JP" dirty="0"/>
              <a:t>"On this slide</a:t>
            </a:r>
            <a:r>
              <a:rPr kumimoji="1" lang="ja-JP" altLang="en"/>
              <a:t>，</a:t>
            </a:r>
            <a:r>
              <a:rPr kumimoji="1" lang="en" altLang="ja-JP" dirty="0"/>
              <a:t>we will look at the statistical analysis of the glitch occurrences </a:t>
            </a:r>
            <a:r>
              <a:rPr kumimoji="1" lang="ja-JP" altLang="en"/>
              <a:t>．</a:t>
            </a:r>
            <a:r>
              <a:rPr kumimoji="1" lang="en" altLang="ja-JP" dirty="0"/>
              <a:t>First</a:t>
            </a:r>
            <a:r>
              <a:rPr kumimoji="1" lang="ja-JP" altLang="en"/>
              <a:t>，</a:t>
            </a:r>
            <a:r>
              <a:rPr kumimoji="1" lang="en" altLang="ja-JP" dirty="0"/>
              <a:t>let me explain what we see here </a:t>
            </a:r>
            <a:r>
              <a:rPr kumimoji="1" lang="ja-JP" altLang="en"/>
              <a:t>．</a:t>
            </a:r>
            <a:r>
              <a:rPr kumimoji="1" lang="en" altLang="ja-JP" dirty="0"/>
              <a:t>The table at the top summarizes each glitch by its frequency and total duration in frames </a:t>
            </a:r>
            <a:r>
              <a:rPr kumimoji="1" lang="ja-JP" altLang="en"/>
              <a:t>．</a:t>
            </a:r>
            <a:r>
              <a:rPr kumimoji="1" lang="en" altLang="ja-JP" dirty="0"/>
              <a:t>The visualization chart below maps these glitches onto the video’s timeline</a:t>
            </a:r>
            <a:r>
              <a:rPr kumimoji="1" lang="ja-JP" altLang="en"/>
              <a:t>，</a:t>
            </a:r>
            <a:r>
              <a:rPr kumimoji="1" lang="en" altLang="ja-JP" dirty="0"/>
              <a:t>showing exactly when they occur during the run </a:t>
            </a:r>
            <a:r>
              <a:rPr kumimoji="1" lang="ja-JP" altLang="en"/>
              <a:t>．</a:t>
            </a:r>
            <a:r>
              <a:rPr kumimoji="1" lang="en" altLang="ja-JP" dirty="0"/>
              <a:t>""In this world record video</a:t>
            </a:r>
            <a:r>
              <a:rPr kumimoji="1" lang="ja-JP" altLang="en"/>
              <a:t>，</a:t>
            </a:r>
            <a:r>
              <a:rPr kumimoji="1" lang="en" altLang="ja-JP" dirty="0"/>
              <a:t>five types of glitches were utilized </a:t>
            </a:r>
            <a:r>
              <a:rPr kumimoji="1" lang="ja-JP" altLang="en"/>
              <a:t>．</a:t>
            </a:r>
            <a:r>
              <a:rPr kumimoji="1" lang="en" altLang="ja-JP" dirty="0"/>
              <a:t>I will now walk through the data for each </a:t>
            </a:r>
            <a:r>
              <a:rPr kumimoji="1" lang="en" altLang="ja-JP" dirty="0" err="1"/>
              <a:t>type:"BLJ</a:t>
            </a:r>
            <a:r>
              <a:rPr kumimoji="1" lang="en" altLang="ja-JP" dirty="0"/>
              <a:t>: This glitch involves accumulating speed via backward jumps to clip through walls </a:t>
            </a:r>
            <a:r>
              <a:rPr kumimoji="1" lang="ja-JP" altLang="en"/>
              <a:t>．</a:t>
            </a:r>
            <a:r>
              <a:rPr kumimoji="1" lang="en" altLang="ja-JP" dirty="0"/>
              <a:t>As shown in the visualization</a:t>
            </a:r>
            <a:r>
              <a:rPr kumimoji="1" lang="ja-JP" altLang="en"/>
              <a:t>，</a:t>
            </a:r>
            <a:r>
              <a:rPr kumimoji="1" lang="en" altLang="ja-JP" dirty="0"/>
              <a:t>it was used in three separate instances for a total of 339 frames </a:t>
            </a:r>
            <a:r>
              <a:rPr kumimoji="1" lang="ja-JP" altLang="en"/>
              <a:t>．</a:t>
            </a:r>
            <a:r>
              <a:rPr kumimoji="1" lang="en" altLang="ja-JP" dirty="0"/>
              <a:t>LBLJ: This is a specific BLJ performed in the lobby to bypass the 8-star door </a:t>
            </a:r>
            <a:r>
              <a:rPr kumimoji="1" lang="ja-JP" altLang="en"/>
              <a:t>．</a:t>
            </a:r>
            <a:r>
              <a:rPr kumimoji="1" lang="en" altLang="ja-JP" dirty="0"/>
              <a:t>It occurred once for a duration of 170 frames </a:t>
            </a:r>
            <a:r>
              <a:rPr kumimoji="1" lang="ja-JP" altLang="en"/>
              <a:t>．</a:t>
            </a:r>
            <a:r>
              <a:rPr kumimoji="1" lang="en" altLang="ja-JP" dirty="0"/>
              <a:t>DDD Skip: This bypasses the 30-star door and the Dire, Dire Docks entrance </a:t>
            </a:r>
            <a:r>
              <a:rPr kumimoji="1" lang="ja-JP" altLang="en"/>
              <a:t>．</a:t>
            </a:r>
            <a:r>
              <a:rPr kumimoji="1" lang="en" altLang="ja-JP" dirty="0"/>
              <a:t>It was used once and lasted 179 frames </a:t>
            </a:r>
            <a:r>
              <a:rPr kumimoji="1" lang="ja-JP" altLang="en"/>
              <a:t>．</a:t>
            </a:r>
            <a:r>
              <a:rPr kumimoji="1" lang="en" altLang="ja-JP" dirty="0"/>
              <a:t>Pole Glitch: This allows Mario to warp from the bottom of a pole to the top instantly </a:t>
            </a:r>
            <a:r>
              <a:rPr kumimoji="1" lang="ja-JP" altLang="en"/>
              <a:t>．</a:t>
            </a:r>
            <a:r>
              <a:rPr kumimoji="1" lang="en" altLang="ja-JP" dirty="0"/>
              <a:t>It appears once on the timeline for 34 frames </a:t>
            </a:r>
            <a:r>
              <a:rPr kumimoji="1" lang="ja-JP" altLang="en"/>
              <a:t>．</a:t>
            </a:r>
            <a:r>
              <a:rPr kumimoji="1" lang="en" altLang="ja-JP" dirty="0"/>
              <a:t>Ledge Clipping: This involves clipping through walls via geometry seams </a:t>
            </a:r>
            <a:r>
              <a:rPr kumimoji="1" lang="ja-JP" altLang="en"/>
              <a:t>．</a:t>
            </a:r>
            <a:r>
              <a:rPr kumimoji="1" lang="en" altLang="ja-JP" dirty="0"/>
              <a:t>It was performed twice</a:t>
            </a:r>
            <a:r>
              <a:rPr kumimoji="1" lang="ja-JP" altLang="en"/>
              <a:t>，</a:t>
            </a:r>
            <a:r>
              <a:rPr kumimoji="1" lang="en" altLang="ja-JP" dirty="0"/>
              <a:t>totaling 54 frames </a:t>
            </a:r>
            <a:r>
              <a:rPr kumimoji="1" lang="ja-JP" altLang="en"/>
              <a:t>．</a:t>
            </a:r>
            <a:r>
              <a:rPr kumimoji="1" lang="en" altLang="ja-JP" dirty="0"/>
              <a:t>"In summary</a:t>
            </a:r>
            <a:r>
              <a:rPr kumimoji="1" lang="ja-JP" altLang="en"/>
              <a:t>，</a:t>
            </a:r>
            <a:r>
              <a:rPr kumimoji="1" lang="en" altLang="ja-JP" dirty="0"/>
              <a:t>we captured 8 total glitch occurrences </a:t>
            </a:r>
            <a:r>
              <a:rPr kumimoji="1" lang="ja-JP" altLang="en"/>
              <a:t>．</a:t>
            </a:r>
            <a:r>
              <a:rPr kumimoji="1" lang="en" altLang="ja-JP" dirty="0"/>
              <a:t>These results identify the exact moments where glitches were actively used for a grand total of 776 frames throughout the run </a:t>
            </a:r>
            <a:r>
              <a:rPr kumimoji="1" lang="ja-JP" altLang="en"/>
              <a:t>．</a:t>
            </a:r>
            <a:r>
              <a:rPr kumimoji="1" lang="en" altLang="ja-JP" dirty="0"/>
              <a:t>"</a:t>
            </a: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ECD7F5-C0ED-D845-8933-D4442048DDE2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748068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ja-JP" dirty="0"/>
              <a:t>"Finally, for our future plans , my immediate goal is to complete the implementation and testing of the glitch identification system. I aim to finalize these results by April 15th. Our next meeting is scheduled for April 22nd at the earliest, though it may move to the 29th. To maintain our momentum, I will share the results on Slack as soon as they are ready rather than waiting for the next formal meeting."</a:t>
            </a: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ECD7F5-C0ED-D845-8933-D4442048DDE2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370456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15160BE-DC95-B6F6-731E-994F9476B9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2363"/>
            <a:ext cx="12192000" cy="2387600"/>
          </a:xfrm>
        </p:spPr>
        <p:txBody>
          <a:bodyPr rIns="720000" anchor="ctr" anchorCtr="0">
            <a:noAutofit/>
          </a:bodyPr>
          <a:lstStyle>
            <a:lvl1pPr algn="l">
              <a:defRPr sz="54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531AB90-5F2E-DC72-BE98-A4BD405182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602038"/>
            <a:ext cx="12192000" cy="2386800"/>
          </a:xfrm>
        </p:spPr>
        <p:txBody>
          <a:bodyPr lIns="720000" anchor="ctr" anchorCtr="0"/>
          <a:lstStyle>
            <a:lvl1pPr marL="0" indent="0" algn="l">
              <a:buNone/>
              <a:defRPr sz="3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39084957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8C88B94-F420-0AEE-C1B4-C46023B39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892BB6F-071E-5F52-9A73-E1FFF95BB3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8D5A362-49EF-EA98-879E-DED32A1FB1F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3883625-ED9F-1149-9526-20C7378D45EF}" type="datetimeFigureOut">
              <a:rPr kumimoji="1" lang="ja-JP" altLang="en-US" smtClean="0"/>
              <a:t>2026/4/6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9506698-8264-ACC8-A887-D495AF216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B1CCB51-2FFF-CF11-6F71-504273CBD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92305-B013-E149-9F60-03E7F142D13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201593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AE43D71-0FC5-C6CB-E505-0B25DCE4A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999E306-9401-400F-1706-1CFFDBE135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23FD7EB-922B-53E1-E76A-6564358679F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3883625-ED9F-1149-9526-20C7378D45EF}" type="datetimeFigureOut">
              <a:rPr kumimoji="1" lang="ja-JP" altLang="en-US" smtClean="0"/>
              <a:t>2026/4/6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626476D-9ECD-4526-0702-7147363D5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299B534-0CA7-15E0-55CC-5CDAD2A44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92305-B013-E149-9F60-03E7F142D13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07310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A8D328F-556F-47A6-D057-2412F4A02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EB01DA5-1144-AD25-947F-72B5E71EBC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7896061-28BA-CA19-2915-CBE25F9883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744F6F1-31E4-543B-5216-C97ED0EECD0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3883625-ED9F-1149-9526-20C7378D45EF}" type="datetimeFigureOut">
              <a:rPr kumimoji="1" lang="ja-JP" altLang="en-US" smtClean="0"/>
              <a:t>2026/4/6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483A9CD-BF69-BFBC-B9F4-CDC2817C4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1CB07BE-1EDB-34E3-465C-8D58E7130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92305-B013-E149-9F60-03E7F142D13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270553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0D66F85-B020-FC88-26AD-B0B6E525C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CE28E60-F492-8CD9-317C-4A9BEC60E9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0A8B702-68CF-F419-8231-C18F938989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BC49842-EF30-0E76-F9AE-D7EDD073E4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8ED0D73-9BD8-1DB0-4987-1A876D6E8A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1B02C85F-A2BB-049E-C4A1-ADD844900D3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3883625-ED9F-1149-9526-20C7378D45EF}" type="datetimeFigureOut">
              <a:rPr kumimoji="1" lang="ja-JP" altLang="en-US" smtClean="0"/>
              <a:t>2026/4/6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5F97CBA7-5C65-F742-2F19-32CF191DD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629E62F-5A44-F2C5-7BFA-6CAB75FF8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92305-B013-E149-9F60-03E7F142D13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098740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0C9F59C-63BF-26FB-7E31-4BA77418A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780F260-D6FE-1B99-124C-5A1860972AF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3883625-ED9F-1149-9526-20C7378D45EF}" type="datetimeFigureOut">
              <a:rPr kumimoji="1" lang="ja-JP" altLang="en-US" smtClean="0"/>
              <a:t>2026/4/6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C7523E9-F2CE-02A2-D985-F59A12F44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B09582D-4161-6DA8-D989-FCD2470EA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92305-B013-E149-9F60-03E7F142D13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741436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8167870-1870-356C-F5AA-014D74AA39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3883625-ED9F-1149-9526-20C7378D45EF}" type="datetimeFigureOut">
              <a:rPr kumimoji="1" lang="ja-JP" altLang="en-US" smtClean="0"/>
              <a:t>2026/4/6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7E141A56-5A34-70A9-281C-14C1796B6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A5EB337-C634-800C-2EC0-92E30C4FB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92305-B013-E149-9F60-03E7F142D13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530532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02B9812-A236-789B-6C3E-7432A9009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639DDBA-075C-A6A8-E0BE-6E5DC3C3A5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D9F07CE-F8E5-BE5D-0BE1-12BF3B14FA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478546B-1A25-D844-D380-E4ACEDBE0E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3883625-ED9F-1149-9526-20C7378D45EF}" type="datetimeFigureOut">
              <a:rPr kumimoji="1" lang="ja-JP" altLang="en-US" smtClean="0"/>
              <a:t>2026/4/6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BD4E8DA-1426-3EE8-263F-5F186CBA9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D0552B7-3E0C-81F5-5D26-7D5CE5120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92305-B013-E149-9F60-03E7F142D13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87900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D1234F9-D436-594E-A77C-67CF5CC84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EE5EC064-58C4-718E-E3A4-9D190949FC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1" lang="ja-JP" altLang="en-US"/>
              <a:t>アイコンをクリックして図を追加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6AC035E-332C-ACA2-925C-762C2E929E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3BF80A8-A1CE-873D-CBB9-F386235068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3883625-ED9F-1149-9526-20C7378D45EF}" type="datetimeFigureOut">
              <a:rPr kumimoji="1" lang="ja-JP" altLang="en-US" smtClean="0"/>
              <a:t>2026/4/6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89C35D3-CE53-8436-C7AF-ED4882FBF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87E7BB6-ED2E-9029-0470-D17B164F8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92305-B013-E149-9F60-03E7F142D13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552984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118F24B-D2C1-168B-2ADA-0E0C47DD9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66B44C5-9095-7319-98C8-E65B91CAAC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C7D1A0B-E42C-96E8-EF5B-F2CCCF577F1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3883625-ED9F-1149-9526-20C7378D45EF}" type="datetimeFigureOut">
              <a:rPr kumimoji="1" lang="ja-JP" altLang="en-US" smtClean="0"/>
              <a:t>2026/4/6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81DFD45-FA58-CC72-A1EE-D1EFA8D34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C79EA5B-B4F3-7302-BB46-10150AA08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92305-B013-E149-9F60-03E7F142D13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652220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7748BCB-108B-C6AA-709E-010C0BE522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2143EB4-B772-BF89-44A3-6CBF3FC968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15E7CE4-8C14-40DB-A249-729C7E1EBB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3883625-ED9F-1149-9526-20C7378D45EF}" type="datetimeFigureOut">
              <a:rPr kumimoji="1" lang="ja-JP" altLang="en-US" smtClean="0"/>
              <a:t>2026/4/6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2982FDA-B4E8-DE09-EEA0-326226C73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28E5E24-3DFA-80CA-0CA4-D5A51D4E1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92305-B013-E149-9F60-03E7F142D13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32745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979EA8F5-6D3B-4965-13F6-614BA8771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txBody>
          <a:bodyPr vert="horz" lIns="72000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DC3AE09-66B7-59AA-3E88-9CFC66670F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0000" tIns="45720" rIns="91440" bIns="45720" rtlCol="0">
            <a:no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 dirty="0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 dirty="0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 dirty="0"/>
              <a:t>4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C71B38F-830F-F23D-9DB9-2B21AEBDA8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 b="0" i="0">
                <a:solidFill>
                  <a:schemeClr val="tx1">
                    <a:tint val="82000"/>
                  </a:schemeClr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defRPr>
            </a:lvl1pPr>
          </a:lstStyle>
          <a:p>
            <a:fld id="{5BC92305-B013-E149-9F60-03E7F142D13C}" type="slidenum">
              <a:rPr lang="ja-JP" altLang="en-US" smtClean="0"/>
              <a:pPr/>
              <a:t>‹#›</a:t>
            </a:fld>
            <a:endParaRPr lang="ja-JP" altLang="en-US" sz="2400"/>
          </a:p>
        </p:txBody>
      </p:sp>
    </p:spTree>
    <p:extLst>
      <p:ext uri="{BB962C8B-B14F-4D97-AF65-F5344CB8AC3E}">
        <p14:creationId xmlns:p14="http://schemas.microsoft.com/office/powerpoint/2010/main" val="3497022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b="1" i="0" kern="1200">
          <a:solidFill>
            <a:schemeClr val="bg1"/>
          </a:solidFill>
          <a:latin typeface="Hiragino Kaku Gothic Pro W6" panose="020B0300000000000000" pitchFamily="34" charset="-128"/>
          <a:ea typeface="Hiragino Kaku Gothic Pro W6" panose="020B0300000000000000" pitchFamily="34" charset="-128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000" b="0" i="0" kern="1200">
          <a:solidFill>
            <a:schemeClr val="tx1"/>
          </a:solidFill>
          <a:latin typeface="Hiragino Kaku Gothic Pro W3" panose="020B0300000000000000" pitchFamily="34" charset="-128"/>
          <a:ea typeface="Hiragino Kaku Gothic Pro W3" panose="020B0300000000000000" pitchFamily="34" charset="-128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800" b="0" i="0" kern="1200">
          <a:solidFill>
            <a:schemeClr val="tx1"/>
          </a:solidFill>
          <a:latin typeface="Hiragino Kaku Gothic Pro W3" panose="020B0300000000000000" pitchFamily="34" charset="-128"/>
          <a:ea typeface="Hiragino Kaku Gothic Pro W3" panose="020B0300000000000000" pitchFamily="34" charset="-128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b="0" i="0" kern="1200">
          <a:solidFill>
            <a:schemeClr val="tx1"/>
          </a:solidFill>
          <a:latin typeface="Hiragino Kaku Gothic Pro W3" panose="020B0300000000000000" pitchFamily="34" charset="-128"/>
          <a:ea typeface="Hiragino Kaku Gothic Pro W3" panose="020B0300000000000000" pitchFamily="34" charset="-128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200" b="0" i="0" kern="1200">
          <a:solidFill>
            <a:schemeClr val="tx1"/>
          </a:solidFill>
          <a:latin typeface="Hiragino Kaku Gothic Pro W3" panose="020B0300000000000000" pitchFamily="34" charset="-128"/>
          <a:ea typeface="Hiragino Kaku Gothic Pro W3" panose="020B0300000000000000" pitchFamily="34" charset="-128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b="0" i="0" kern="1200">
          <a:solidFill>
            <a:schemeClr val="tx1"/>
          </a:solidFill>
          <a:latin typeface="Hiragino Kaku Gothic Pro W3" panose="020B0300000000000000" pitchFamily="34" charset="-128"/>
          <a:ea typeface="Hiragino Kaku Gothic Pro W3" panose="020B0300000000000000" pitchFamily="34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6C8DCF5-4F3A-3B06-C21A-FDD7EF563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ja-JP" dirty="0"/>
              <a:t>Review of Previous Meeting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AD97229-048A-71AD-D496-252ECDBFF0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3655"/>
            <a:ext cx="10515600" cy="5209875"/>
          </a:xfrm>
        </p:spPr>
        <p:txBody>
          <a:bodyPr/>
          <a:lstStyle/>
          <a:p>
            <a:r>
              <a:rPr lang="en" altLang="ja-JP" sz="3200" b="1" dirty="0">
                <a:latin typeface="Hiragino Kaku Gothic Pro W6" panose="020B0300000000000000" pitchFamily="34" charset="-128"/>
                <a:ea typeface="Hiragino Kaku Gothic Pro W6" panose="020B0300000000000000" pitchFamily="34" charset="-128"/>
              </a:rPr>
              <a:t>Key Decisions</a:t>
            </a:r>
          </a:p>
          <a:p>
            <a:pPr lvl="1"/>
            <a:r>
              <a:rPr lang="en" altLang="ja-JP" b="1" dirty="0"/>
              <a:t>Research Focus</a:t>
            </a:r>
            <a:r>
              <a:rPr lang="en" altLang="ja-JP" dirty="0"/>
              <a:t>: Focused on "Automated Organization of Optimal Speedrun Strategy Evolution.”</a:t>
            </a:r>
          </a:p>
          <a:p>
            <a:pPr lvl="1"/>
            <a:r>
              <a:rPr lang="en" altLang="ja-JP" b="1" dirty="0"/>
              <a:t>Technical Approach</a:t>
            </a:r>
            <a:r>
              <a:rPr lang="en" altLang="ja-JP" dirty="0"/>
              <a:t>: Adopting a methodology similar to Wentao et al., where an LLM is pre-trained with a specific glitch list to identify glitches in video data.</a:t>
            </a:r>
            <a:endParaRPr lang="en-US" altLang="ja-JP" b="1" dirty="0">
              <a:latin typeface="Hiragino Kaku Gothic Pro W6" panose="020B0300000000000000" pitchFamily="34" charset="-128"/>
              <a:ea typeface="Hiragino Kaku Gothic Pro W6" panose="020B0300000000000000" pitchFamily="34" charset="-128"/>
            </a:endParaRPr>
          </a:p>
          <a:p>
            <a:r>
              <a:rPr lang="en" altLang="ja-JP" sz="3200" b="1" dirty="0">
                <a:latin typeface="Hiragino Kaku Gothic Pro W6" panose="020B0300000000000000" pitchFamily="34" charset="-128"/>
                <a:ea typeface="Hiragino Kaku Gothic Pro W6" panose="020B0300000000000000" pitchFamily="34" charset="-128"/>
              </a:rPr>
              <a:t>To-Do Items</a:t>
            </a:r>
          </a:p>
          <a:p>
            <a:pPr lvl="1"/>
            <a:r>
              <a:rPr lang="en" altLang="ja-JP" dirty="0"/>
              <a:t>Create a comprehensive list of Super Mario 64 (SM64) speedrun glitches.</a:t>
            </a:r>
          </a:p>
          <a:p>
            <a:pPr lvl="1"/>
            <a:r>
              <a:rPr lang="en" altLang="ja-JP" dirty="0"/>
              <a:t>Select a World Record (WR) video and perform a detection test using VLM/LLM based on the prepared list. </a:t>
            </a:r>
            <a:endParaRPr lang="en" altLang="ja-JP" b="1" dirty="0">
              <a:latin typeface="Hiragino Kaku Gothic Pro W6" panose="020B0300000000000000" pitchFamily="34" charset="-128"/>
              <a:ea typeface="Hiragino Kaku Gothic Pro W6" panose="020B03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578110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FD2ED9-4DD9-19E7-C6B3-9CB244294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ja-JP" dirty="0"/>
              <a:t>Current Progress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EB41AD2-AB9A-622C-0816-4B420E896A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0791"/>
            <a:ext cx="10515600" cy="5387209"/>
          </a:xfrm>
        </p:spPr>
        <p:txBody>
          <a:bodyPr/>
          <a:lstStyle/>
          <a:p>
            <a:r>
              <a:rPr kumimoji="1" lang="en-US" altLang="ja-JP" sz="3200" b="1" dirty="0">
                <a:latin typeface="Hiragino Kaku Gothic Pro W6" panose="020B0300000000000000" pitchFamily="34" charset="-128"/>
                <a:ea typeface="Hiragino Kaku Gothic Pro W6" panose="020B0300000000000000" pitchFamily="34" charset="-128"/>
              </a:rPr>
              <a:t>Completed</a:t>
            </a:r>
          </a:p>
          <a:p>
            <a:pPr lvl="1"/>
            <a:r>
              <a:rPr lang="en" altLang="ja-JP" dirty="0"/>
              <a:t>Compiled a specialized list of SM64 speedrun glitches.</a:t>
            </a:r>
          </a:p>
          <a:p>
            <a:pPr lvl="1"/>
            <a:r>
              <a:rPr lang="en" altLang="ja-JP" dirty="0"/>
              <a:t>Selected a WR video and completed manual frame-by-frame labeling.</a:t>
            </a:r>
          </a:p>
          <a:p>
            <a:pPr lvl="1"/>
            <a:r>
              <a:rPr lang="en" altLang="ja-JP" dirty="0"/>
              <a:t>Performed a statistical analysis of glitch occurrences in the selected video.</a:t>
            </a:r>
          </a:p>
          <a:p>
            <a:r>
              <a:rPr lang="en-US" altLang="ja-JP" sz="3200" b="1" dirty="0">
                <a:latin typeface="Hiragino Kaku Gothic Pro W6" panose="020B0300000000000000" pitchFamily="34" charset="-128"/>
                <a:ea typeface="Hiragino Kaku Gothic Pro W6" panose="020B0300000000000000" pitchFamily="34" charset="-128"/>
              </a:rPr>
              <a:t>Ongoing</a:t>
            </a:r>
          </a:p>
          <a:p>
            <a:pPr lvl="1"/>
            <a:r>
              <a:rPr lang="en" altLang="ja-JP" dirty="0"/>
              <a:t>Reviewing Wentao’s paper to deeply understand and implement the proposed methodology.</a:t>
            </a:r>
          </a:p>
          <a:p>
            <a:r>
              <a:rPr lang="en" altLang="ja-JP" sz="3200" b="1" dirty="0">
                <a:latin typeface="Hiragino Kaku Gothic Pro W6" panose="020B0300000000000000" pitchFamily="34" charset="-128"/>
                <a:ea typeface="Hiragino Kaku Gothic Pro W6" panose="020B0300000000000000" pitchFamily="34" charset="-128"/>
              </a:rPr>
              <a:t>Next Steps</a:t>
            </a:r>
          </a:p>
          <a:p>
            <a:pPr lvl="1"/>
            <a:r>
              <a:rPr lang="en" altLang="ja-JP" dirty="0"/>
              <a:t>Conduct a performance test to identify glitches in the selected video using the Wentao-inspired approach.</a:t>
            </a:r>
          </a:p>
        </p:txBody>
      </p:sp>
    </p:spTree>
    <p:extLst>
      <p:ext uri="{BB962C8B-B14F-4D97-AF65-F5344CB8AC3E}">
        <p14:creationId xmlns:p14="http://schemas.microsoft.com/office/powerpoint/2010/main" val="4153934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3423044-EC8E-09FD-DF5B-9B227E0A3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ja-JP" dirty="0"/>
              <a:t>Creation of SM64 Glitch List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E8E94B6-7A28-A9CB-FF49-A9ADD1EACD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93352"/>
            <a:ext cx="10515600" cy="4693510"/>
          </a:xfrm>
        </p:spPr>
        <p:txBody>
          <a:bodyPr/>
          <a:lstStyle/>
          <a:p>
            <a:r>
              <a:rPr kumimoji="1" lang="en" altLang="ja-JP" sz="2800" b="1" dirty="0"/>
              <a:t>Initial Search</a:t>
            </a:r>
            <a:r>
              <a:rPr kumimoji="1" lang="en" altLang="ja-JP" sz="2800" dirty="0"/>
              <a:t>: Used </a:t>
            </a:r>
            <a:r>
              <a:rPr kumimoji="1" lang="en" altLang="ja-JP" sz="2800" dirty="0" err="1"/>
              <a:t>NotebookLM</a:t>
            </a:r>
            <a:r>
              <a:rPr kumimoji="1" lang="en" altLang="ja-JP" sz="2800" dirty="0"/>
              <a:t> to crawl relevant websites.</a:t>
            </a:r>
          </a:p>
          <a:p>
            <a:r>
              <a:rPr lang="en" altLang="ja-JP" sz="2800" b="1" dirty="0"/>
              <a:t>Data Cleaning</a:t>
            </a:r>
            <a:r>
              <a:rPr lang="en" altLang="ja-JP" sz="2800" dirty="0"/>
              <a:t>: Existing wikis often contained "noise," such as glitches irrelevant to speedrunning or intended game mechanics.</a:t>
            </a:r>
          </a:p>
          <a:p>
            <a:r>
              <a:rPr lang="en" altLang="ja-JP" sz="2800" b="1" dirty="0"/>
              <a:t>Source Selection</a:t>
            </a:r>
            <a:r>
              <a:rPr lang="en" altLang="ja-JP" sz="2800" dirty="0"/>
              <a:t>: Identified four reliable sources.</a:t>
            </a:r>
          </a:p>
          <a:p>
            <a:r>
              <a:rPr lang="en" altLang="ja-JP" sz="2800" b="1" dirty="0"/>
              <a:t>Iterative Refinement</a:t>
            </a:r>
            <a:r>
              <a:rPr lang="en" altLang="ja-JP" sz="2800" dirty="0"/>
              <a:t>: Collaborated with </a:t>
            </a:r>
            <a:r>
              <a:rPr lang="en" altLang="ja-JP" sz="2800" dirty="0" err="1"/>
              <a:t>NotebookLM</a:t>
            </a:r>
            <a:r>
              <a:rPr lang="en" altLang="ja-JP" sz="2800" dirty="0"/>
              <a:t> through a cycle of automated generation and manual feedback, resulting in a finalized list of 19 specific glitches.</a:t>
            </a:r>
            <a:endParaRPr kumimoji="1" lang="ja-JP" altLang="en-US" sz="2800"/>
          </a:p>
        </p:txBody>
      </p:sp>
    </p:spTree>
    <p:extLst>
      <p:ext uri="{BB962C8B-B14F-4D97-AF65-F5344CB8AC3E}">
        <p14:creationId xmlns:p14="http://schemas.microsoft.com/office/powerpoint/2010/main" val="28739618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0BC25-D166-1BA5-0A61-079E7B971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F38AB5-73F6-5D99-FE5A-FD5101347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ja-JP" dirty="0"/>
              <a:t>Labeling of World Record Video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0AA4EF7-AD9F-B069-CC70-AA6C5C71BA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1597" y="2535629"/>
            <a:ext cx="11288806" cy="3230470"/>
          </a:xfrm>
        </p:spPr>
        <p:txBody>
          <a:bodyPr/>
          <a:lstStyle/>
          <a:p>
            <a:r>
              <a:rPr lang="en" altLang="ja-JP" sz="3200" b="1" dirty="0">
                <a:latin typeface="Hiragino Kaku Gothic Pro W6" panose="020B0300000000000000" pitchFamily="34" charset="-128"/>
                <a:ea typeface="Hiragino Kaku Gothic Pro W6" panose="020B0300000000000000" pitchFamily="34" charset="-128"/>
              </a:rPr>
              <a:t>Selected Video</a:t>
            </a:r>
          </a:p>
          <a:p>
            <a:pPr lvl="1"/>
            <a:r>
              <a:rPr lang="en" altLang="ja-JP" b="1" dirty="0"/>
              <a:t>Category</a:t>
            </a:r>
            <a:r>
              <a:rPr lang="en" altLang="ja-JP" dirty="0"/>
              <a:t>: 0 Star</a:t>
            </a:r>
          </a:p>
          <a:p>
            <a:pPr lvl="1"/>
            <a:r>
              <a:rPr kumimoji="1" lang="en" altLang="ja-JP" b="1" dirty="0"/>
              <a:t>Runner</a:t>
            </a:r>
            <a:r>
              <a:rPr kumimoji="1" lang="en" altLang="ja-JP" dirty="0"/>
              <a:t>: </a:t>
            </a:r>
            <a:r>
              <a:rPr kumimoji="1" lang="en" altLang="ja-JP" dirty="0" err="1"/>
              <a:t>Suigi</a:t>
            </a:r>
            <a:endParaRPr kumimoji="1" lang="en" altLang="ja-JP" dirty="0"/>
          </a:p>
          <a:p>
            <a:pPr lvl="1"/>
            <a:r>
              <a:rPr lang="en" altLang="ja-JP" b="1" dirty="0"/>
              <a:t>Record</a:t>
            </a:r>
            <a:r>
              <a:rPr lang="en" altLang="ja-JP" dirty="0"/>
              <a:t>: 6m 14s 190ms (Achieved on December 30, 2025)</a:t>
            </a:r>
          </a:p>
          <a:p>
            <a:r>
              <a:rPr lang="en" altLang="ja-JP" sz="3200" b="1" dirty="0">
                <a:latin typeface="Hiragino Kaku Gothic Pro W6" panose="020B0300000000000000" pitchFamily="34" charset="-128"/>
                <a:ea typeface="Hiragino Kaku Gothic Pro W6" panose="020B0300000000000000" pitchFamily="34" charset="-128"/>
              </a:rPr>
              <a:t>Labeling Methodology</a:t>
            </a:r>
          </a:p>
          <a:p>
            <a:pPr lvl="1"/>
            <a:r>
              <a:rPr lang="en" altLang="ja-JP" b="1" dirty="0"/>
              <a:t>Granularity</a:t>
            </a:r>
            <a:r>
              <a:rPr lang="en" altLang="ja-JP" dirty="0"/>
              <a:t>: Performed manual annotation of glitch occurrences at a per-frame level.</a:t>
            </a:r>
            <a:endParaRPr kumimoji="1" lang="en" altLang="ja-JP" dirty="0"/>
          </a:p>
        </p:txBody>
      </p:sp>
    </p:spTree>
    <p:extLst>
      <p:ext uri="{BB962C8B-B14F-4D97-AF65-F5344CB8AC3E}">
        <p14:creationId xmlns:p14="http://schemas.microsoft.com/office/powerpoint/2010/main" val="37335164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6D0ABDE-37B0-1531-2ADB-754B610FD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430767"/>
          </a:xfrm>
        </p:spPr>
        <p:txBody>
          <a:bodyPr/>
          <a:lstStyle/>
          <a:p>
            <a:r>
              <a:rPr lang="en" altLang="ja-JP" dirty="0"/>
              <a:t>Statistical Analysis of Glitch Occurrences</a:t>
            </a:r>
            <a:endParaRPr kumimoji="1" lang="ja-JP" altLang="en-US"/>
          </a:p>
        </p:txBody>
      </p:sp>
      <p:sp>
        <p:nvSpPr>
          <p:cNvPr id="5" name="コンテンツ プレースホルダー 2">
            <a:extLst>
              <a:ext uri="{FF2B5EF4-FFF2-40B4-BE49-F238E27FC236}">
                <a16:creationId xmlns:a16="http://schemas.microsoft.com/office/drawing/2014/main" id="{0DC250DC-AFB6-1BB8-5EC4-9D2C05F505E2}"/>
              </a:ext>
            </a:extLst>
          </p:cNvPr>
          <p:cNvSpPr txBox="1">
            <a:spLocks/>
          </p:cNvSpPr>
          <p:nvPr/>
        </p:nvSpPr>
        <p:spPr>
          <a:xfrm>
            <a:off x="451597" y="1795090"/>
            <a:ext cx="11288806" cy="507326"/>
          </a:xfrm>
          <a:prstGeom prst="rect">
            <a:avLst/>
          </a:prstGeom>
        </p:spPr>
        <p:txBody>
          <a:bodyPr vert="horz" lIns="9000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000" b="0" i="0" kern="120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800" b="0" i="0" kern="120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b="0" i="0" kern="120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200" b="0" i="0" kern="120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b="0" i="0" kern="120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" altLang="ja-JP" sz="3200" b="1" dirty="0">
                <a:latin typeface="Hiragino Kaku Gothic Pro W6" panose="020B0300000000000000" pitchFamily="34" charset="-128"/>
                <a:ea typeface="Hiragino Kaku Gothic Pro W6" panose="020B0300000000000000" pitchFamily="34" charset="-128"/>
              </a:rPr>
              <a:t>Glitch Statistics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AFCD13D7-6155-1375-D715-49359DF053D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94" t="11106" r="1301" b="13838"/>
          <a:stretch>
            <a:fillRect/>
          </a:stretch>
        </p:blipFill>
        <p:spPr>
          <a:xfrm>
            <a:off x="46160" y="5550087"/>
            <a:ext cx="12145840" cy="1054250"/>
          </a:xfrm>
          <a:prstGeom prst="rect">
            <a:avLst/>
          </a:prstGeom>
        </p:spPr>
      </p:pic>
      <p:graphicFrame>
        <p:nvGraphicFramePr>
          <p:cNvPr id="8" name="表 7">
            <a:extLst>
              <a:ext uri="{FF2B5EF4-FFF2-40B4-BE49-F238E27FC236}">
                <a16:creationId xmlns:a16="http://schemas.microsoft.com/office/drawing/2014/main" id="{7DE02A6A-4CC2-CBE2-FEEE-4F379CF0C2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9991134"/>
              </p:ext>
            </p:extLst>
          </p:nvPr>
        </p:nvGraphicFramePr>
        <p:xfrm>
          <a:off x="276113" y="2302416"/>
          <a:ext cx="11639774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6932">
                  <a:extLst>
                    <a:ext uri="{9D8B030D-6E8A-4147-A177-3AD203B41FA5}">
                      <a16:colId xmlns:a16="http://schemas.microsoft.com/office/drawing/2014/main" val="3140246248"/>
                    </a:ext>
                  </a:extLst>
                </a:gridCol>
                <a:gridCol w="6691256">
                  <a:extLst>
                    <a:ext uri="{9D8B030D-6E8A-4147-A177-3AD203B41FA5}">
                      <a16:colId xmlns:a16="http://schemas.microsoft.com/office/drawing/2014/main" val="193967068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1235602003"/>
                    </a:ext>
                  </a:extLst>
                </a:gridCol>
                <a:gridCol w="2320066">
                  <a:extLst>
                    <a:ext uri="{9D8B030D-6E8A-4147-A177-3AD203B41FA5}">
                      <a16:colId xmlns:a16="http://schemas.microsoft.com/office/drawing/2014/main" val="41412907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Glitch Type</a:t>
                      </a:r>
                      <a:endParaRPr kumimoji="1" lang="ja-JP" altLang="en-US"/>
                    </a:p>
                  </a:txBody>
                  <a:tcPr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Simple Explanation</a:t>
                      </a:r>
                      <a:endParaRPr kumimoji="1" lang="ja-JP" altLang="en-US"/>
                    </a:p>
                  </a:txBody>
                  <a:tcPr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Freq</a:t>
                      </a:r>
                      <a:endParaRPr kumimoji="1" lang="ja-JP" altLang="en-US"/>
                    </a:p>
                  </a:txBody>
                  <a:tcPr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Duration (Frames)</a:t>
                      </a:r>
                      <a:endParaRPr kumimoji="1" lang="ja-JP" altLang="en-US"/>
                    </a:p>
                  </a:txBody>
                  <a:tcPr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10939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b="0" i="0" dirty="0">
                          <a:latin typeface="Hiragino Kaku Gothic Pro W3" panose="020B0300000000000000" pitchFamily="34" charset="-128"/>
                          <a:ea typeface="Hiragino Kaku Gothic Pro W3" panose="020B0300000000000000" pitchFamily="34" charset="-128"/>
                        </a:rPr>
                        <a:t>BLJ</a:t>
                      </a:r>
                      <a:endParaRPr kumimoji="1" lang="ja-JP" altLang="en-US" b="0" i="0">
                        <a:latin typeface="Hiragino Kaku Gothic Pro W3" panose="020B0300000000000000" pitchFamily="34" charset="-128"/>
                        <a:ea typeface="Hiragino Kaku Gothic Pro W3" panose="020B0300000000000000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" altLang="ja-JP" sz="1600" b="0" i="0" dirty="0">
                          <a:latin typeface="Hiragino Kaku Gothic Pro W3" panose="020B0300000000000000" pitchFamily="34" charset="-128"/>
                          <a:ea typeface="Hiragino Kaku Gothic Pro W3" panose="020B0300000000000000" pitchFamily="34" charset="-128"/>
                        </a:rPr>
                        <a:t>Accumulate speed via backward jumps to clip through walls.</a:t>
                      </a:r>
                      <a:endParaRPr kumimoji="1" lang="ja-JP" altLang="en-US" sz="1600" b="0" i="0">
                        <a:latin typeface="Hiragino Kaku Gothic Pro W3" panose="020B0300000000000000" pitchFamily="34" charset="-128"/>
                        <a:ea typeface="Hiragino Kaku Gothic Pro W3" panose="020B0300000000000000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b="0" i="0" dirty="0">
                          <a:latin typeface="Hiragino Kaku Gothic Pro W3" panose="020B0300000000000000" pitchFamily="34" charset="-128"/>
                          <a:ea typeface="Hiragino Kaku Gothic Pro W3" panose="020B0300000000000000" pitchFamily="34" charset="-128"/>
                        </a:rPr>
                        <a:t>3</a:t>
                      </a:r>
                      <a:endParaRPr kumimoji="1" lang="ja-JP" altLang="en-US" b="0" i="0">
                        <a:latin typeface="Hiragino Kaku Gothic Pro W3" panose="020B0300000000000000" pitchFamily="34" charset="-128"/>
                        <a:ea typeface="Hiragino Kaku Gothic Pro W3" panose="020B0300000000000000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b="0" i="0" dirty="0">
                          <a:latin typeface="Hiragino Kaku Gothic Pro W3" panose="020B0300000000000000" pitchFamily="34" charset="-128"/>
                          <a:ea typeface="Hiragino Kaku Gothic Pro W3" panose="020B0300000000000000" pitchFamily="34" charset="-128"/>
                        </a:rPr>
                        <a:t>96+138+105=339</a:t>
                      </a:r>
                      <a:endParaRPr kumimoji="1" lang="ja-JP" altLang="en-US" b="0" i="0">
                        <a:latin typeface="Hiragino Kaku Gothic Pro W3" panose="020B0300000000000000" pitchFamily="34" charset="-128"/>
                        <a:ea typeface="Hiragino Kaku Gothic Pro W3" panose="020B0300000000000000" pitchFamily="34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67781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b="0" i="0" dirty="0">
                          <a:latin typeface="Hiragino Kaku Gothic Pro W3" panose="020B0300000000000000" pitchFamily="34" charset="-128"/>
                          <a:ea typeface="Hiragino Kaku Gothic Pro W3" panose="020B0300000000000000" pitchFamily="34" charset="-128"/>
                        </a:rPr>
                        <a:t>LBLJ</a:t>
                      </a:r>
                      <a:endParaRPr kumimoji="1" lang="ja-JP" altLang="en-US" b="0" i="0">
                        <a:latin typeface="Hiragino Kaku Gothic Pro W3" panose="020B0300000000000000" pitchFamily="34" charset="-128"/>
                        <a:ea typeface="Hiragino Kaku Gothic Pro W3" panose="020B0300000000000000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" altLang="ja-JP" sz="1600" b="0" i="0" dirty="0">
                          <a:latin typeface="Hiragino Kaku Gothic Pro W3" panose="020B0300000000000000" pitchFamily="34" charset="-128"/>
                          <a:ea typeface="Hiragino Kaku Gothic Pro W3" panose="020B0300000000000000" pitchFamily="34" charset="-128"/>
                        </a:rPr>
                        <a:t>Perform BLJ in the lobby to clip through the 8-star door.</a:t>
                      </a:r>
                      <a:endParaRPr kumimoji="1" lang="ja-JP" altLang="en-US" sz="1600" b="0" i="0">
                        <a:latin typeface="Hiragino Kaku Gothic Pro W3" panose="020B0300000000000000" pitchFamily="34" charset="-128"/>
                        <a:ea typeface="Hiragino Kaku Gothic Pro W3" panose="020B0300000000000000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b="0" i="0" dirty="0">
                          <a:latin typeface="Hiragino Kaku Gothic Pro W3" panose="020B0300000000000000" pitchFamily="34" charset="-128"/>
                          <a:ea typeface="Hiragino Kaku Gothic Pro W3" panose="020B0300000000000000" pitchFamily="34" charset="-128"/>
                        </a:rPr>
                        <a:t>1</a:t>
                      </a:r>
                      <a:endParaRPr kumimoji="1" lang="ja-JP" altLang="en-US" b="0" i="0">
                        <a:latin typeface="Hiragino Kaku Gothic Pro W3" panose="020B0300000000000000" pitchFamily="34" charset="-128"/>
                        <a:ea typeface="Hiragino Kaku Gothic Pro W3" panose="020B0300000000000000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b="0" i="0" dirty="0">
                          <a:latin typeface="Hiragino Kaku Gothic Pro W3" panose="020B0300000000000000" pitchFamily="34" charset="-128"/>
                          <a:ea typeface="Hiragino Kaku Gothic Pro W3" panose="020B0300000000000000" pitchFamily="34" charset="-128"/>
                        </a:rPr>
                        <a:t>170</a:t>
                      </a:r>
                      <a:endParaRPr kumimoji="1" lang="ja-JP" altLang="en-US" b="0" i="0">
                        <a:latin typeface="Hiragino Kaku Gothic Pro W3" panose="020B0300000000000000" pitchFamily="34" charset="-128"/>
                        <a:ea typeface="Hiragino Kaku Gothic Pro W3" panose="020B0300000000000000" pitchFamily="34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8675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b="0" i="0" dirty="0">
                          <a:latin typeface="Hiragino Kaku Gothic Pro W3" panose="020B0300000000000000" pitchFamily="34" charset="-128"/>
                          <a:ea typeface="Hiragino Kaku Gothic Pro W3" panose="020B0300000000000000" pitchFamily="34" charset="-128"/>
                        </a:rPr>
                        <a:t>DDD Skip</a:t>
                      </a:r>
                      <a:endParaRPr kumimoji="1" lang="ja-JP" altLang="en-US" b="0" i="0">
                        <a:latin typeface="Hiragino Kaku Gothic Pro W3" panose="020B0300000000000000" pitchFamily="34" charset="-128"/>
                        <a:ea typeface="Hiragino Kaku Gothic Pro W3" panose="020B0300000000000000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" altLang="ja-JP" sz="1600" b="0" i="0" dirty="0">
                          <a:latin typeface="Hiragino Kaku Gothic Pro W3" panose="020B0300000000000000" pitchFamily="34" charset="-128"/>
                          <a:ea typeface="Hiragino Kaku Gothic Pro W3" panose="020B0300000000000000" pitchFamily="34" charset="-128"/>
                        </a:rPr>
                        <a:t>Bypass the 30-star door and the Dire, Dire Docks entrance.</a:t>
                      </a:r>
                      <a:endParaRPr kumimoji="1" lang="ja-JP" altLang="en-US" sz="1600" b="0" i="0">
                        <a:latin typeface="Hiragino Kaku Gothic Pro W3" panose="020B0300000000000000" pitchFamily="34" charset="-128"/>
                        <a:ea typeface="Hiragino Kaku Gothic Pro W3" panose="020B0300000000000000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b="0" i="0" dirty="0">
                          <a:latin typeface="Hiragino Kaku Gothic Pro W3" panose="020B0300000000000000" pitchFamily="34" charset="-128"/>
                          <a:ea typeface="Hiragino Kaku Gothic Pro W3" panose="020B0300000000000000" pitchFamily="34" charset="-128"/>
                        </a:rPr>
                        <a:t>1</a:t>
                      </a:r>
                      <a:endParaRPr kumimoji="1" lang="ja-JP" altLang="en-US" b="0" i="0">
                        <a:latin typeface="Hiragino Kaku Gothic Pro W3" panose="020B0300000000000000" pitchFamily="34" charset="-128"/>
                        <a:ea typeface="Hiragino Kaku Gothic Pro W3" panose="020B0300000000000000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b="0" i="0" dirty="0">
                          <a:latin typeface="Hiragino Kaku Gothic Pro W3" panose="020B0300000000000000" pitchFamily="34" charset="-128"/>
                          <a:ea typeface="Hiragino Kaku Gothic Pro W3" panose="020B0300000000000000" pitchFamily="34" charset="-128"/>
                        </a:rPr>
                        <a:t>179</a:t>
                      </a:r>
                      <a:endParaRPr kumimoji="1" lang="ja-JP" altLang="en-US" b="0" i="0">
                        <a:latin typeface="Hiragino Kaku Gothic Pro W3" panose="020B0300000000000000" pitchFamily="34" charset="-128"/>
                        <a:ea typeface="Hiragino Kaku Gothic Pro W3" panose="020B0300000000000000" pitchFamily="34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77832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b="0" i="0" dirty="0">
                          <a:latin typeface="Hiragino Kaku Gothic Pro W3" panose="020B0300000000000000" pitchFamily="34" charset="-128"/>
                          <a:ea typeface="Hiragino Kaku Gothic Pro W3" panose="020B0300000000000000" pitchFamily="34" charset="-128"/>
                        </a:rPr>
                        <a:t>Pole Glitch</a:t>
                      </a:r>
                      <a:endParaRPr kumimoji="1" lang="ja-JP" altLang="en-US" b="0" i="0">
                        <a:latin typeface="Hiragino Kaku Gothic Pro W3" panose="020B0300000000000000" pitchFamily="34" charset="-128"/>
                        <a:ea typeface="Hiragino Kaku Gothic Pro W3" panose="020B0300000000000000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" altLang="ja-JP" sz="1600" b="0" i="0" dirty="0">
                          <a:latin typeface="Hiragino Kaku Gothic Pro W3" panose="020B0300000000000000" pitchFamily="34" charset="-128"/>
                          <a:ea typeface="Hiragino Kaku Gothic Pro W3" panose="020B0300000000000000" pitchFamily="34" charset="-128"/>
                        </a:rPr>
                        <a:t>Warp from the bottom of a pole to the top instantly.</a:t>
                      </a:r>
                      <a:endParaRPr kumimoji="1" lang="ja-JP" altLang="en-US" sz="1600" b="0" i="0">
                        <a:latin typeface="Hiragino Kaku Gothic Pro W3" panose="020B0300000000000000" pitchFamily="34" charset="-128"/>
                        <a:ea typeface="Hiragino Kaku Gothic Pro W3" panose="020B0300000000000000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b="0" i="0" dirty="0">
                          <a:latin typeface="Hiragino Kaku Gothic Pro W3" panose="020B0300000000000000" pitchFamily="34" charset="-128"/>
                          <a:ea typeface="Hiragino Kaku Gothic Pro W3" panose="020B0300000000000000" pitchFamily="34" charset="-128"/>
                        </a:rPr>
                        <a:t>1</a:t>
                      </a:r>
                      <a:endParaRPr kumimoji="1" lang="ja-JP" altLang="en-US" b="0" i="0">
                        <a:latin typeface="Hiragino Kaku Gothic Pro W3" panose="020B0300000000000000" pitchFamily="34" charset="-128"/>
                        <a:ea typeface="Hiragino Kaku Gothic Pro W3" panose="020B0300000000000000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b="0" i="0" dirty="0">
                          <a:latin typeface="Hiragino Kaku Gothic Pro W3" panose="020B0300000000000000" pitchFamily="34" charset="-128"/>
                          <a:ea typeface="Hiragino Kaku Gothic Pro W3" panose="020B0300000000000000" pitchFamily="34" charset="-128"/>
                        </a:rPr>
                        <a:t>34</a:t>
                      </a:r>
                      <a:endParaRPr kumimoji="1" lang="ja-JP" altLang="en-US" b="0" i="0">
                        <a:latin typeface="Hiragino Kaku Gothic Pro W3" panose="020B0300000000000000" pitchFamily="34" charset="-128"/>
                        <a:ea typeface="Hiragino Kaku Gothic Pro W3" panose="020B0300000000000000" pitchFamily="34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34336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b="0" i="0" dirty="0">
                          <a:latin typeface="Hiragino Kaku Gothic Pro W3" panose="020B0300000000000000" pitchFamily="34" charset="-128"/>
                          <a:ea typeface="Hiragino Kaku Gothic Pro W3" panose="020B0300000000000000" pitchFamily="34" charset="-128"/>
                        </a:rPr>
                        <a:t>Ledge Clipping</a:t>
                      </a:r>
                      <a:endParaRPr kumimoji="1" lang="ja-JP" altLang="en-US" b="0" i="0">
                        <a:latin typeface="Hiragino Kaku Gothic Pro W3" panose="020B0300000000000000" pitchFamily="34" charset="-128"/>
                        <a:ea typeface="Hiragino Kaku Gothic Pro W3" panose="020B0300000000000000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" altLang="ja-JP" sz="1600" b="0" i="0" dirty="0">
                          <a:latin typeface="Hiragino Kaku Gothic Pro W3" panose="020B0300000000000000" pitchFamily="34" charset="-128"/>
                          <a:ea typeface="Hiragino Kaku Gothic Pro W3" panose="020B0300000000000000" pitchFamily="34" charset="-128"/>
                        </a:rPr>
                        <a:t>Clip through walls via geometry seams or collision gaps.</a:t>
                      </a:r>
                      <a:endParaRPr kumimoji="1" lang="ja-JP" altLang="en-US" sz="1600" b="0" i="0">
                        <a:latin typeface="Hiragino Kaku Gothic Pro W3" panose="020B0300000000000000" pitchFamily="34" charset="-128"/>
                        <a:ea typeface="Hiragino Kaku Gothic Pro W3" panose="020B0300000000000000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b="0" i="0" dirty="0">
                          <a:latin typeface="Hiragino Kaku Gothic Pro W3" panose="020B0300000000000000" pitchFamily="34" charset="-128"/>
                          <a:ea typeface="Hiragino Kaku Gothic Pro W3" panose="020B0300000000000000" pitchFamily="34" charset="-128"/>
                        </a:rPr>
                        <a:t>2</a:t>
                      </a:r>
                      <a:endParaRPr kumimoji="1" lang="ja-JP" altLang="en-US" b="0" i="0">
                        <a:latin typeface="Hiragino Kaku Gothic Pro W3" panose="020B0300000000000000" pitchFamily="34" charset="-128"/>
                        <a:ea typeface="Hiragino Kaku Gothic Pro W3" panose="020B0300000000000000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b="0" i="0" dirty="0">
                          <a:latin typeface="Hiragino Kaku Gothic Pro W3" panose="020B0300000000000000" pitchFamily="34" charset="-128"/>
                          <a:ea typeface="Hiragino Kaku Gothic Pro W3" panose="020B0300000000000000" pitchFamily="34" charset="-128"/>
                        </a:rPr>
                        <a:t>21+33=54</a:t>
                      </a:r>
                      <a:endParaRPr kumimoji="1" lang="ja-JP" altLang="en-US" b="0" i="0">
                        <a:latin typeface="Hiragino Kaku Gothic Pro W3" panose="020B0300000000000000" pitchFamily="34" charset="-128"/>
                        <a:ea typeface="Hiragino Kaku Gothic Pro W3" panose="020B0300000000000000" pitchFamily="34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81482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b="0" i="0" dirty="0">
                          <a:latin typeface="Hiragino Kaku Gothic Pro W3" panose="020B0300000000000000" pitchFamily="34" charset="-128"/>
                          <a:ea typeface="Hiragino Kaku Gothic Pro W3" panose="020B0300000000000000" pitchFamily="34" charset="-128"/>
                        </a:rPr>
                        <a:t>Total</a:t>
                      </a:r>
                      <a:endParaRPr kumimoji="1" lang="ja-JP" altLang="en-US" b="0" i="0">
                        <a:latin typeface="Hiragino Kaku Gothic Pro W3" panose="020B0300000000000000" pitchFamily="34" charset="-128"/>
                        <a:ea typeface="Hiragino Kaku Gothic Pro W3" panose="020B0300000000000000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b="0" i="0" dirty="0">
                          <a:latin typeface="Hiragino Kaku Gothic Pro W3" panose="020B0300000000000000" pitchFamily="34" charset="-128"/>
                          <a:ea typeface="Hiragino Kaku Gothic Pro W3" panose="020B0300000000000000" pitchFamily="34" charset="-128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b="0" i="0" dirty="0">
                          <a:latin typeface="Hiragino Kaku Gothic Pro W3" panose="020B0300000000000000" pitchFamily="34" charset="-128"/>
                          <a:ea typeface="Hiragino Kaku Gothic Pro W3" panose="020B0300000000000000" pitchFamily="34" charset="-128"/>
                        </a:rPr>
                        <a:t>8</a:t>
                      </a:r>
                      <a:endParaRPr kumimoji="1" lang="ja-JP" altLang="en-US" b="0" i="0">
                        <a:latin typeface="Hiragino Kaku Gothic Pro W3" panose="020B0300000000000000" pitchFamily="34" charset="-128"/>
                        <a:ea typeface="Hiragino Kaku Gothic Pro W3" panose="020B0300000000000000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b="0" i="0" dirty="0">
                          <a:latin typeface="Hiragino Kaku Gothic Pro W3" panose="020B0300000000000000" pitchFamily="34" charset="-128"/>
                          <a:ea typeface="Hiragino Kaku Gothic Pro W3" panose="020B0300000000000000" pitchFamily="34" charset="-128"/>
                        </a:rPr>
                        <a:t>776</a:t>
                      </a:r>
                      <a:endParaRPr kumimoji="1" lang="ja-JP" altLang="en-US" b="0" i="0">
                        <a:latin typeface="Hiragino Kaku Gothic Pro W3" panose="020B0300000000000000" pitchFamily="34" charset="-128"/>
                        <a:ea typeface="Hiragino Kaku Gothic Pro W3" panose="020B0300000000000000" pitchFamily="34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8638210"/>
                  </a:ext>
                </a:extLst>
              </a:tr>
            </a:tbl>
          </a:graphicData>
        </a:graphic>
      </p:graphicFrame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5CF60600-DF1D-6349-BE50-D36FF9A38FCC}"/>
              </a:ext>
            </a:extLst>
          </p:cNvPr>
          <p:cNvSpPr txBox="1">
            <a:spLocks/>
          </p:cNvSpPr>
          <p:nvPr/>
        </p:nvSpPr>
        <p:spPr>
          <a:xfrm>
            <a:off x="451597" y="5296424"/>
            <a:ext cx="11288806" cy="507326"/>
          </a:xfrm>
          <a:prstGeom prst="rect">
            <a:avLst/>
          </a:prstGeom>
        </p:spPr>
        <p:txBody>
          <a:bodyPr vert="horz" lIns="9000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000" b="0" i="0" kern="120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800" b="0" i="0" kern="120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b="0" i="0" kern="120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200" b="0" i="0" kern="120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b="0" i="0" kern="120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" altLang="ja-JP" sz="3200" b="1" dirty="0">
                <a:latin typeface="Hiragino Kaku Gothic Pro W6" panose="020B0300000000000000" pitchFamily="34" charset="-128"/>
                <a:ea typeface="Hiragino Kaku Gothic Pro W6" panose="020B0300000000000000" pitchFamily="34" charset="-128"/>
              </a:rPr>
              <a:t>Visualization of Glitch Usage</a:t>
            </a:r>
          </a:p>
        </p:txBody>
      </p:sp>
    </p:spTree>
    <p:extLst>
      <p:ext uri="{BB962C8B-B14F-4D97-AF65-F5344CB8AC3E}">
        <p14:creationId xmlns:p14="http://schemas.microsoft.com/office/powerpoint/2010/main" val="34987093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75AEB0-DB24-FD04-B403-C8529BC1C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C9D793B-2881-5477-FDE4-493BEF91A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ja-JP" dirty="0"/>
              <a:t>Future Plans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0B14055-F650-12EB-9EC5-6E6E896A7B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1597" y="1900928"/>
            <a:ext cx="11288806" cy="4403054"/>
          </a:xfrm>
        </p:spPr>
        <p:txBody>
          <a:bodyPr/>
          <a:lstStyle/>
          <a:p>
            <a:r>
              <a:rPr lang="en" altLang="ja-JP" sz="3200" b="1" dirty="0">
                <a:latin typeface="Hiragino Kaku Gothic Pro W6" panose="020B0300000000000000" pitchFamily="34" charset="-128"/>
                <a:ea typeface="Hiragino Kaku Gothic Pro W6" panose="020B0300000000000000" pitchFamily="34" charset="-128"/>
              </a:rPr>
              <a:t>Short-term Goals</a:t>
            </a:r>
          </a:p>
          <a:p>
            <a:pPr lvl="1"/>
            <a:r>
              <a:rPr lang="en" altLang="ja-JP" dirty="0"/>
              <a:t>Complete the implementation and testing of the glitch identification system using Wentao’s methodology.</a:t>
            </a:r>
          </a:p>
          <a:p>
            <a:pPr lvl="1"/>
            <a:r>
              <a:rPr lang="en" altLang="ja-JP" b="1" dirty="0"/>
              <a:t>Target Deadline</a:t>
            </a:r>
            <a:r>
              <a:rPr lang="en" altLang="ja-JP" dirty="0"/>
              <a:t>: Results to be finalized by </a:t>
            </a:r>
            <a:r>
              <a:rPr lang="en" altLang="ja-JP" b="1" dirty="0"/>
              <a:t>April 15th</a:t>
            </a:r>
            <a:r>
              <a:rPr lang="en" altLang="ja-JP" dirty="0"/>
              <a:t>.</a:t>
            </a:r>
          </a:p>
          <a:p>
            <a:r>
              <a:rPr lang="en" altLang="ja-JP" sz="3200" b="1" dirty="0">
                <a:latin typeface="Hiragino Kaku Gothic Pro W6" panose="020B0300000000000000" pitchFamily="34" charset="-128"/>
                <a:ea typeface="Hiragino Kaku Gothic Pro W6" panose="020B0300000000000000" pitchFamily="34" charset="-128"/>
              </a:rPr>
              <a:t>Reporting Plan</a:t>
            </a:r>
          </a:p>
          <a:p>
            <a:pPr lvl="1"/>
            <a:r>
              <a:rPr lang="en" altLang="ja-JP" dirty="0"/>
              <a:t>The next meeting is scheduled for April 22nd at the earliest (potentially moving to the 29th).</a:t>
            </a:r>
          </a:p>
          <a:p>
            <a:pPr lvl="1"/>
            <a:r>
              <a:rPr lang="en" altLang="ja-JP" dirty="0"/>
              <a:t>To maintain momentum, I will report the results via </a:t>
            </a:r>
            <a:r>
              <a:rPr lang="en" altLang="ja-JP" b="1" dirty="0"/>
              <a:t>Slack</a:t>
            </a:r>
            <a:r>
              <a:rPr lang="en" altLang="ja-JP" dirty="0"/>
              <a:t> as soon as they are available, rather than waiting for the next formal meeting.</a:t>
            </a:r>
            <a:endParaRPr kumimoji="1" lang="en" altLang="ja-JP" dirty="0"/>
          </a:p>
        </p:txBody>
      </p:sp>
    </p:spTree>
    <p:extLst>
      <p:ext uri="{BB962C8B-B14F-4D97-AF65-F5344CB8AC3E}">
        <p14:creationId xmlns:p14="http://schemas.microsoft.com/office/powerpoint/2010/main" val="40753569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プレゼンテーション3" id="{3B6E5C82-52D9-9442-925A-A060D1D00EE8}" vid="{21B85367-8F89-5349-BD4C-30269E5A76AB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テーマ</Template>
  <TotalTime>20415</TotalTime>
  <Words>1113</Words>
  <Application>Microsoft Macintosh PowerPoint</Application>
  <PresentationFormat>ワイド画面</PresentationFormat>
  <Paragraphs>78</Paragraphs>
  <Slides>6</Slides>
  <Notes>6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1" baseType="lpstr">
      <vt:lpstr>Hiragino Kaku Gothic Pro W3</vt:lpstr>
      <vt:lpstr>Hiragino Kaku Gothic Pro W6</vt:lpstr>
      <vt:lpstr>游ゴシック</vt:lpstr>
      <vt:lpstr>Arial</vt:lpstr>
      <vt:lpstr>Office テーマ</vt:lpstr>
      <vt:lpstr>Review of Previous Meeting</vt:lpstr>
      <vt:lpstr>Current Progress</vt:lpstr>
      <vt:lpstr>Creation of SM64 Glitch List</vt:lpstr>
      <vt:lpstr>Labeling of World Record Video</vt:lpstr>
      <vt:lpstr>Statistical Analysis of Glitch Occurrences</vt:lpstr>
      <vt:lpstr>Future Plans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UENAKA Yuto</dc:creator>
  <cp:lastModifiedBy>UENAKA Yuto</cp:lastModifiedBy>
  <cp:revision>6</cp:revision>
  <dcterms:created xsi:type="dcterms:W3CDTF">2026-04-06T02:46:13Z</dcterms:created>
  <dcterms:modified xsi:type="dcterms:W3CDTF">2026-04-20T07:01:30Z</dcterms:modified>
</cp:coreProperties>
</file>